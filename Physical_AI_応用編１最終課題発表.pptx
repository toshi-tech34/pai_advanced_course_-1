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cover_matsuo.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777240"/>
          </a:xfrm>
          <a:prstGeom prst="rect">
            <a:avLst/>
          </a:prstGeom>
          <a:noFill/>
        </p:spPr>
        <p:txBody>
          <a:bodyPr wrap="square" lIns="0" tIns="0" rIns="0" bIns="0">
            <a:spAutoFit/>
          </a:bodyPr>
          <a:lstStyle/>
          <a:p>
            <a:pPr>
              <a:spcAft>
                <a:spcPts val="200"/>
              </a:spcAft>
            </a:pPr>
            <a:r>
              <a:rPr sz="1000" b="1" i="0">
                <a:solidFill>
                  <a:srgbClr val="7D8066"/>
                </a:solidFill>
                <a:latin typeface="Noto Sans CJK JP"/>
              </a:rPr>
              <a:t>【OVERVIEW】 パイプライン全体像</a:t>
            </a:r>
          </a:p>
          <a:p>
            <a:r>
              <a:rPr sz="1900" b="1" i="0">
                <a:solidFill>
                  <a:srgbClr val="0F172A"/>
                </a:solidFill>
                <a:latin typeface="Noto Sans CJK JP"/>
              </a:rPr>
              <a:t>1. パイプライン全体概要 (Step 1 〜 Step 6)</a:t>
            </a:r>
          </a:p>
        </p:txBody>
      </p:sp>
      <p:sp>
        <p:nvSpPr>
          <p:cNvPr id="3" name="Rectangle 2"/>
          <p:cNvSpPr/>
          <p:nvPr/>
        </p:nvSpPr>
        <p:spPr>
          <a:xfrm>
            <a:off x="548640" y="1143000"/>
            <a:ext cx="11094415" cy="22860"/>
          </a:xfrm>
          <a:prstGeom prst="rect">
            <a:avLst/>
          </a:prstGeom>
          <a:solidFill>
            <a:srgbClr val="9C9F84"/>
          </a:solidFill>
          <a:ln>
            <a:solidFill>
              <a:srgbClr val="9C9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46520"/>
            <a:ext cx="11094415" cy="914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7315200" cy="274320"/>
          </a:xfrm>
          <a:prstGeom prst="rect">
            <a:avLst/>
          </a:prstGeom>
          <a:noFill/>
        </p:spPr>
        <p:txBody>
          <a:bodyPr wrap="none" lIns="0" tIns="0" rIns="0" bIns="0">
            <a:spAutoFit/>
          </a:bodyPr>
          <a:lstStyle/>
          <a:p>
            <a:r>
              <a:rPr sz="850" b="0" i="0">
                <a:solidFill>
                  <a:srgbClr val="64748B"/>
                </a:solidFill>
                <a:latin typeface="Noto Sans CJK JP"/>
              </a:rPr>
              <a:t>Physical AI 応用編1 知能ロボティクス講座 最終課題発表 | 松尾・岩澤研究室</a:t>
            </a:r>
          </a:p>
        </p:txBody>
      </p:sp>
      <p:sp>
        <p:nvSpPr>
          <p:cNvPr id="6" name="TextBox 5"/>
          <p:cNvSpPr txBox="1"/>
          <p:nvPr/>
        </p:nvSpPr>
        <p:spPr>
          <a:xfrm>
            <a:off x="8686800" y="6492240"/>
            <a:ext cx="2956255" cy="274320"/>
          </a:xfrm>
          <a:prstGeom prst="rect">
            <a:avLst/>
          </a:prstGeom>
          <a:noFill/>
        </p:spPr>
        <p:txBody>
          <a:bodyPr wrap="none" lIns="0" tIns="0" rIns="0" bIns="0">
            <a:spAutoFit/>
          </a:bodyPr>
          <a:lstStyle/>
          <a:p>
            <a:pPr algn="r"/>
            <a:r>
              <a:rPr sz="900" b="1" i="0">
                <a:solidFill>
                  <a:srgbClr val="64748B"/>
                </a:solidFill>
                <a:latin typeface="Noto Sans CJK JP"/>
              </a:rPr>
              <a:t>2 / 13</a:t>
            </a:r>
          </a:p>
        </p:txBody>
      </p:sp>
      <p:sp>
        <p:nvSpPr>
          <p:cNvPr id="7" name="Rounded Rectangle 6"/>
          <p:cNvSpPr/>
          <p:nvPr/>
        </p:nvSpPr>
        <p:spPr>
          <a:xfrm>
            <a:off x="548640" y="1280160"/>
            <a:ext cx="5120640" cy="2103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71600"/>
            <a:ext cx="4846320" cy="1920240"/>
          </a:xfrm>
          <a:prstGeom prst="rect">
            <a:avLst/>
          </a:prstGeom>
          <a:noFill/>
        </p:spPr>
        <p:txBody>
          <a:bodyPr wrap="square" lIns="0" tIns="0" rIns="0" bIns="0">
            <a:spAutoFit/>
          </a:bodyPr>
          <a:lstStyle/>
          <a:p>
            <a:pPr>
              <a:spcAft>
                <a:spcPts val="400"/>
              </a:spcAft>
            </a:pPr>
            <a:r>
              <a:rPr sz="1300" b="1" i="0">
                <a:solidFill>
                  <a:srgbClr val="0F172A"/>
                </a:solidFill>
                <a:latin typeface="Noto Sans CJK JP"/>
              </a:rPr>
              <a:t>📋 タスク定義 ＆ 実施諸元</a:t>
            </a:r>
          </a:p>
          <a:p>
            <a:pPr>
              <a:spcAft>
                <a:spcPts val="200"/>
              </a:spcAft>
            </a:pPr>
            <a:r>
              <a:rPr sz="950" b="1" i="0">
                <a:solidFill>
                  <a:srgbClr val="0F172A"/>
                </a:solidFill>
                <a:latin typeface="Noto Sans CJK JP"/>
              </a:rPr>
              <a:t>• 対象ロボット: </a:t>
            </a:r>
            <a:r>
              <a:rPr sz="950" b="0" i="0">
                <a:solidFill>
                  <a:srgbClr val="334155"/>
                </a:solidFill>
                <a:latin typeface="Noto Sans CJK JP"/>
              </a:rPr>
              <a:t>CRANE+ V2 (4自由度アーム ＋ 1自由度パラレルグリッパー)</a:t>
            </a:r>
          </a:p>
          <a:p>
            <a:pPr>
              <a:spcAft>
                <a:spcPts val="200"/>
              </a:spcAft>
            </a:pPr>
            <a:r>
              <a:rPr sz="950" b="1" i="0">
                <a:solidFill>
                  <a:srgbClr val="0F172A"/>
                </a:solidFill>
                <a:latin typeface="Noto Sans CJK JP"/>
              </a:rPr>
              <a:t>• シミュレータ: </a:t>
            </a:r>
            <a:r>
              <a:rPr sz="950" b="0" i="0">
                <a:solidFill>
                  <a:srgbClr val="334155"/>
                </a:solidFill>
                <a:latin typeface="Noto Sans CJK JP"/>
              </a:rPr>
              <a:t>Gazebo 11 / ROS 2 Humble (noVNC DISPLAY=:1 / 6080ポート)</a:t>
            </a:r>
          </a:p>
          <a:p>
            <a:pPr>
              <a:spcAft>
                <a:spcPts val="200"/>
              </a:spcAft>
            </a:pPr>
            <a:r>
              <a:rPr sz="950" b="1" i="0">
                <a:solidFill>
                  <a:srgbClr val="0F172A"/>
                </a:solidFill>
                <a:latin typeface="Noto Sans CJK JP"/>
              </a:rPr>
              <a:t>• タスク定義: </a:t>
            </a:r>
            <a:r>
              <a:rPr sz="950" b="0" i="0">
                <a:solidFill>
                  <a:srgbClr val="334155"/>
                </a:solidFill>
                <a:latin typeface="Noto Sans CJK JP"/>
              </a:rPr>
              <a:t>机上ランダム配置ペグ (外径20mm) の受台穴 (内径22mm) 自律挿入</a:t>
            </a:r>
          </a:p>
          <a:p>
            <a:pPr>
              <a:spcAft>
                <a:spcPts val="200"/>
              </a:spcAft>
            </a:pPr>
            <a:r>
              <a:rPr sz="950" b="1" i="0">
                <a:solidFill>
                  <a:srgbClr val="0F172A"/>
                </a:solidFill>
                <a:latin typeface="Noto Sans CJK JP"/>
              </a:rPr>
              <a:t>• 実演達成成果: </a:t>
            </a:r>
            <a:r>
              <a:rPr sz="950" b="0" i="0">
                <a:solidFill>
                  <a:srgbClr val="334155"/>
                </a:solidFill>
                <a:latin typeface="Noto Sans CJK JP"/>
              </a:rPr>
              <a:t>実時間 107.6 秒完走 (180秒制限内・最大2倍速規定クリア・100%成功)</a:t>
            </a:r>
          </a:p>
        </p:txBody>
      </p:sp>
      <p:sp>
        <p:nvSpPr>
          <p:cNvPr id="9" name="Rounded Rectangle 8"/>
          <p:cNvSpPr/>
          <p:nvPr/>
        </p:nvSpPr>
        <p:spPr>
          <a:xfrm>
            <a:off x="548640" y="3520440"/>
            <a:ext cx="5120640" cy="27432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611880"/>
            <a:ext cx="4846320" cy="2560320"/>
          </a:xfrm>
          <a:prstGeom prst="rect">
            <a:avLst/>
          </a:prstGeom>
          <a:noFill/>
        </p:spPr>
        <p:txBody>
          <a:bodyPr wrap="square" lIns="0" tIns="0" rIns="0" bIns="0">
            <a:spAutoFit/>
          </a:bodyPr>
          <a:lstStyle/>
          <a:p>
            <a:pPr>
              <a:spcAft>
                <a:spcPts val="400"/>
              </a:spcAft>
            </a:pPr>
            <a:r>
              <a:rPr sz="1300" b="1" i="0">
                <a:solidFill>
                  <a:srgbClr val="0F172A"/>
                </a:solidFill>
                <a:latin typeface="Noto Sans CJK JP"/>
              </a:rPr>
              <a:t>💡 本課題の核心技術アプローチ</a:t>
            </a:r>
          </a:p>
          <a:p>
            <a:pPr>
              <a:spcAft>
                <a:spcPts val="300"/>
              </a:spcAft>
            </a:pPr>
            <a:r>
              <a:rPr sz="950" b="1" i="0">
                <a:solidFill>
                  <a:srgbClr val="7D8066"/>
                </a:solidFill>
                <a:latin typeface="Noto Sans CJK JP"/>
              </a:rPr>
              <a:t>• 人手テレオペの限界突破: </a:t>
            </a:r>
            <a:r>
              <a:rPr sz="950" b="0" i="0">
                <a:solidFill>
                  <a:srgbClr val="334155"/>
                </a:solidFill>
                <a:latin typeface="Noto Sans CJK JP"/>
              </a:rPr>
              <a:t>人手データ収集に伴う操作疲労・ブレ・複合誤差（Covariate Shift）の蓄積をロボット工学的補正制御により克服。</a:t>
            </a:r>
          </a:p>
          <a:p>
            <a:pPr>
              <a:spcAft>
                <a:spcPts val="300"/>
              </a:spcAft>
            </a:pPr>
            <a:r>
              <a:rPr sz="950" b="1" i="0">
                <a:solidFill>
                  <a:srgbClr val="7D8066"/>
                </a:solidFill>
                <a:latin typeface="Noto Sans CJK JP"/>
              </a:rPr>
              <a:t>• 成功率100%物理モデル: </a:t>
            </a:r>
            <a:r>
              <a:rPr sz="950" b="0" i="0">
                <a:solidFill>
                  <a:srgbClr val="334155"/>
                </a:solidFill>
                <a:latin typeface="Noto Sans CJK JP"/>
              </a:rPr>
              <a:t>ヘリコプター型垂直進入 ＆ ペグ底部直接視覚サーボにより、全初期配置で100%成功するTeacher Controllerを確立。</a:t>
            </a:r>
          </a:p>
          <a:p>
            <a:pPr>
              <a:spcAft>
                <a:spcPts val="300"/>
              </a:spcAft>
            </a:pPr>
            <a:r>
              <a:rPr sz="950" b="1" i="0">
                <a:solidFill>
                  <a:srgbClr val="7D8066"/>
                </a:solidFill>
                <a:latin typeface="Noto Sans CJK JP"/>
              </a:rPr>
              <a:t>• 自己改善型 RobOps/MLOps: </a:t>
            </a:r>
            <a:r>
              <a:rPr sz="950" b="0" i="0">
                <a:solidFill>
                  <a:srgbClr val="334155"/>
                </a:solidFill>
                <a:latin typeface="Noto Sans CJK JP"/>
              </a:rPr>
              <a:t>物理エキスパートから実画像・実物理接触テレメトリを自動収集し、生徒ACTモデルへ知識蒸留（Distillation）する自律ループを実証。</a:t>
            </a:r>
          </a:p>
        </p:txBody>
      </p:sp>
      <p:sp>
        <p:nvSpPr>
          <p:cNvPr id="11" name="Rounded Rectangle 10"/>
          <p:cNvSpPr/>
          <p:nvPr/>
        </p:nvSpPr>
        <p:spPr>
          <a:xfrm>
            <a:off x="5852160" y="1280160"/>
            <a:ext cx="5790895" cy="4983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ep_overview_outline.png"/>
          <p:cNvPicPr>
            <a:picLocks noChangeAspect="1"/>
          </p:cNvPicPr>
          <p:nvPr/>
        </p:nvPicPr>
        <p:blipFill>
          <a:blip r:embed="rId2"/>
          <a:stretch>
            <a:fillRect/>
          </a:stretch>
        </p:blipFill>
        <p:spPr>
          <a:xfrm>
            <a:off x="5852160" y="1983190"/>
            <a:ext cx="5790895" cy="3257378"/>
          </a:xfrm>
          <a:prstGeom prst="rect">
            <a:avLst/>
          </a:prstGeom>
        </p:spPr>
      </p:pic>
      <p:sp>
        <p:nvSpPr>
          <p:cNvPr id="13" name="TextBox 12"/>
          <p:cNvSpPr txBox="1"/>
          <p:nvPr/>
        </p:nvSpPr>
        <p:spPr>
          <a:xfrm>
            <a:off x="5852160" y="5943600"/>
            <a:ext cx="5790895" cy="274320"/>
          </a:xfrm>
          <a:prstGeom prst="rect">
            <a:avLst/>
          </a:prstGeom>
          <a:noFill/>
        </p:spPr>
        <p:txBody>
          <a:bodyPr wrap="square" lIns="0" tIns="0" rIns="0" bIns="0">
            <a:spAutoFit/>
          </a:bodyPr>
          <a:lstStyle/>
          <a:p>
            <a:pPr algn="ctr"/>
            <a:r>
              <a:rPr sz="850" b="0" i="1">
                <a:solidFill>
                  <a:srgbClr val="64748B"/>
                </a:solidFill>
                <a:latin typeface="Noto Sans CJK JP"/>
              </a:rPr>
              <a:t>図 1: Step 1〜6 全工程パイプラインアーキテクチャ概要図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777240"/>
          </a:xfrm>
          <a:prstGeom prst="rect">
            <a:avLst/>
          </a:prstGeom>
          <a:noFill/>
        </p:spPr>
        <p:txBody>
          <a:bodyPr wrap="square" lIns="0" tIns="0" rIns="0" bIns="0">
            <a:spAutoFit/>
          </a:bodyPr>
          <a:lstStyle/>
          <a:p>
            <a:pPr>
              <a:spcAft>
                <a:spcPts val="200"/>
              </a:spcAft>
            </a:pPr>
            <a:r>
              <a:rPr sz="1000" b="1" i="0">
                <a:solidFill>
                  <a:srgbClr val="7D8066"/>
                </a:solidFill>
                <a:latin typeface="Noto Sans CJK JP"/>
              </a:rPr>
              <a:t>【STEP 1: 基盤環境構築】</a:t>
            </a:r>
          </a:p>
          <a:p>
            <a:r>
              <a:rPr sz="1900" b="1" i="0">
                <a:solidFill>
                  <a:srgbClr val="0F172A"/>
                </a:solidFill>
                <a:latin typeface="Noto Sans CJK JP"/>
              </a:rPr>
              <a:t>2. Step 1: 環境構築とロボットシミュレータ</a:t>
            </a:r>
          </a:p>
        </p:txBody>
      </p:sp>
      <p:sp>
        <p:nvSpPr>
          <p:cNvPr id="3" name="Rectangle 2"/>
          <p:cNvSpPr/>
          <p:nvPr/>
        </p:nvSpPr>
        <p:spPr>
          <a:xfrm>
            <a:off x="548640" y="1143000"/>
            <a:ext cx="11094415" cy="22860"/>
          </a:xfrm>
          <a:prstGeom prst="rect">
            <a:avLst/>
          </a:prstGeom>
          <a:solidFill>
            <a:srgbClr val="9C9F84"/>
          </a:solidFill>
          <a:ln>
            <a:solidFill>
              <a:srgbClr val="9C9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46520"/>
            <a:ext cx="11094415" cy="914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7315200" cy="274320"/>
          </a:xfrm>
          <a:prstGeom prst="rect">
            <a:avLst/>
          </a:prstGeom>
          <a:noFill/>
        </p:spPr>
        <p:txBody>
          <a:bodyPr wrap="none" lIns="0" tIns="0" rIns="0" bIns="0">
            <a:spAutoFit/>
          </a:bodyPr>
          <a:lstStyle/>
          <a:p>
            <a:r>
              <a:rPr sz="850" b="0" i="0">
                <a:solidFill>
                  <a:srgbClr val="64748B"/>
                </a:solidFill>
                <a:latin typeface="Noto Sans CJK JP"/>
              </a:rPr>
              <a:t>Physical AI 応用編1 知能ロボティクス講座 最終課題発表 | 松尾・岩澤研究室</a:t>
            </a:r>
          </a:p>
        </p:txBody>
      </p:sp>
      <p:sp>
        <p:nvSpPr>
          <p:cNvPr id="6" name="TextBox 5"/>
          <p:cNvSpPr txBox="1"/>
          <p:nvPr/>
        </p:nvSpPr>
        <p:spPr>
          <a:xfrm>
            <a:off x="8686800" y="6492240"/>
            <a:ext cx="2956255" cy="274320"/>
          </a:xfrm>
          <a:prstGeom prst="rect">
            <a:avLst/>
          </a:prstGeom>
          <a:noFill/>
        </p:spPr>
        <p:txBody>
          <a:bodyPr wrap="none" lIns="0" tIns="0" rIns="0" bIns="0">
            <a:spAutoFit/>
          </a:bodyPr>
          <a:lstStyle/>
          <a:p>
            <a:pPr algn="r"/>
            <a:r>
              <a:rPr sz="900" b="1" i="0">
                <a:solidFill>
                  <a:srgbClr val="64748B"/>
                </a:solidFill>
                <a:latin typeface="Noto Sans CJK JP"/>
              </a:rPr>
              <a:t>3 / 13</a:t>
            </a:r>
          </a:p>
        </p:txBody>
      </p:sp>
      <p:sp>
        <p:nvSpPr>
          <p:cNvPr id="7" name="Rounded Rectangle 6"/>
          <p:cNvSpPr/>
          <p:nvPr/>
        </p:nvSpPr>
        <p:spPr>
          <a:xfrm>
            <a:off x="548640" y="1280160"/>
            <a:ext cx="5486400"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5120640" cy="4663440"/>
          </a:xfrm>
          <a:prstGeom prst="rect">
            <a:avLst/>
          </a:prstGeom>
          <a:noFill/>
        </p:spPr>
        <p:txBody>
          <a:bodyPr wrap="square" lIns="0" tIns="0" rIns="0" bIns="0">
            <a:spAutoFit/>
          </a:bodyPr>
          <a:lstStyle/>
          <a:p>
            <a:pPr>
              <a:spcAft>
                <a:spcPts val="600"/>
              </a:spcAft>
            </a:pPr>
            <a:r>
              <a:rPr sz="1300" b="1" i="0">
                <a:solidFill>
                  <a:srgbClr val="0F172A"/>
                </a:solidFill>
                <a:latin typeface="Noto Sans CJK JP"/>
              </a:rPr>
              <a:t>🎯 開発環境・ロボット・センサー諸元</a:t>
            </a:r>
          </a:p>
          <a:p>
            <a:pPr>
              <a:spcAft>
                <a:spcPts val="600"/>
              </a:spcAft>
            </a:pPr>
            <a:r>
              <a:rPr sz="1000" b="1" i="0">
                <a:solidFill>
                  <a:srgbClr val="0F172A"/>
                </a:solidFill>
                <a:latin typeface="Noto Sans CJK JP"/>
              </a:rPr>
              <a:t>• 基盤目的: </a:t>
            </a:r>
            <a:r>
              <a:rPr sz="1000" b="0" i="0">
                <a:solidFill>
                  <a:srgbClr val="334155"/>
                </a:solidFill>
                <a:latin typeface="Noto Sans CJK JP"/>
              </a:rPr>
              <a:t>物理接触シミュレーションおよび画像レンダリングをリアルタイムに実行可能なロボット開発・深層学習基盤の確立。</a:t>
            </a:r>
          </a:p>
          <a:p>
            <a:pPr>
              <a:spcAft>
                <a:spcPts val="600"/>
              </a:spcAft>
            </a:pPr>
            <a:r>
              <a:rPr sz="1000" b="1" i="0">
                <a:solidFill>
                  <a:srgbClr val="0F172A"/>
                </a:solidFill>
                <a:latin typeface="Noto Sans CJK JP"/>
              </a:rPr>
              <a:t>• OS / ROS 2 / Gazebo: </a:t>
            </a:r>
            <a:r>
              <a:rPr sz="1000" b="0" i="0">
                <a:solidFill>
                  <a:srgbClr val="334155"/>
                </a:solidFill>
                <a:latin typeface="Noto Sans CJK JP"/>
              </a:rPr>
              <a:t>Ubuntu 22.04 LTS / ROS 2 Humble / Gazebo 11。noVNC（仮想画面 DISPLAY=:1 / 6080ポート）経由でブラウザ直接可視化。</a:t>
            </a:r>
          </a:p>
          <a:p>
            <a:pPr>
              <a:spcAft>
                <a:spcPts val="600"/>
              </a:spcAft>
            </a:pPr>
            <a:r>
              <a:rPr sz="1000" b="1" i="0">
                <a:solidFill>
                  <a:srgbClr val="0F172A"/>
                </a:solidFill>
                <a:latin typeface="Noto Sans CJK JP"/>
              </a:rPr>
              <a:t>• 対象ロボット (CRANE+ V2): </a:t>
            </a:r>
            <a:r>
              <a:rPr sz="1000" b="0" i="0">
                <a:solidFill>
                  <a:srgbClr val="334155"/>
                </a:solidFill>
                <a:latin typeface="Noto Sans CJK JP"/>
              </a:rPr>
              <a:t>アールティ社製 4自由度シリアルリンクアーム ＋ 1自由度パラレルグリッパー。URDF/Xacroによりジョイント可動域、伝達トルク、摩擦係数を精密に定義。</a:t>
            </a:r>
          </a:p>
          <a:p>
            <a:pPr>
              <a:spcAft>
                <a:spcPts val="600"/>
              </a:spcAft>
            </a:pPr>
            <a:r>
              <a:rPr sz="1000" b="1" i="0">
                <a:solidFill>
                  <a:srgbClr val="0F172A"/>
                </a:solidFill>
                <a:latin typeface="Noto Sans CJK JP"/>
              </a:rPr>
              <a:t>• 双眼カメラ配置: </a:t>
            </a:r>
            <a:r>
              <a:rPr sz="1000" b="0" i="0">
                <a:solidFill>
                  <a:srgbClr val="334155"/>
                </a:solidFill>
                <a:latin typeface="Noto Sans CJK JP"/>
              </a:rPr>
              <a:t>正面メインカメラ（固定視点 640x480 @ 30FPS, FOV 1.047 rad）および側面サブカメラ（斜め側面視点 640x480 @ 30FPS）を配置。作業空間の遮蔽（オクルージョン）を回避。</a:t>
            </a:r>
          </a:p>
          <a:p>
            <a:pPr>
              <a:spcAft>
                <a:spcPts val="600"/>
              </a:spcAft>
            </a:pPr>
            <a:r>
              <a:rPr sz="1000" b="1" i="0">
                <a:solidFill>
                  <a:srgbClr val="0F172A"/>
                </a:solidFill>
                <a:latin typeface="Noto Sans CJK JP"/>
              </a:rPr>
              <a:t>• 対象物体諸元: </a:t>
            </a:r>
            <a:r>
              <a:rPr sz="1000" b="0" i="0">
                <a:solidFill>
                  <a:srgbClr val="334155"/>
                </a:solidFill>
                <a:latin typeface="Noto Sans CJK JP"/>
              </a:rPr>
              <a:t>円柱ペグ（外径 20.0 mm、高さ 80.0 mm、質量 0.05 kg、赤/緑/青）および受台穴ベース（内径 22.0 mm、クリアランス 2.0 mm、台座高さ 30.0 mm）。</a:t>
            </a:r>
          </a:p>
        </p:txBody>
      </p:sp>
      <p:sp>
        <p:nvSpPr>
          <p:cNvPr id="9" name="Rounded Rectangle 8"/>
          <p:cNvSpPr/>
          <p:nvPr/>
        </p:nvSpPr>
        <p:spPr>
          <a:xfrm>
            <a:off x="6217920" y="1280160"/>
            <a:ext cx="5425135" cy="23774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417320"/>
            <a:ext cx="5029200" cy="2103120"/>
          </a:xfrm>
          <a:prstGeom prst="rect">
            <a:avLst/>
          </a:prstGeom>
          <a:noFill/>
        </p:spPr>
        <p:txBody>
          <a:bodyPr wrap="square" lIns="0" tIns="0" rIns="0" bIns="0">
            <a:spAutoFit/>
          </a:bodyPr>
          <a:lstStyle/>
          <a:p>
            <a:pPr>
              <a:spcAft>
                <a:spcPts val="400"/>
              </a:spcAft>
            </a:pPr>
            <a:r>
              <a:rPr sz="1200" b="1" i="0">
                <a:solidFill>
                  <a:srgbClr val="0F172A"/>
                </a:solidFill>
                <a:latin typeface="Noto Sans CJK JP"/>
              </a:rPr>
              <a:t>📷 双眼カメラセンサーの役割分担</a:t>
            </a:r>
          </a:p>
          <a:p>
            <a:pPr>
              <a:spcAft>
                <a:spcPts val="400"/>
              </a:spcAft>
            </a:pPr>
            <a:r>
              <a:rPr sz="950" b="1" i="0">
                <a:solidFill>
                  <a:srgbClr val="7D8066"/>
                </a:solidFill>
                <a:latin typeface="Noto Sans CJK JP"/>
              </a:rPr>
              <a:t>• 正面メインカメラ: </a:t>
            </a:r>
            <a:r>
              <a:rPr sz="950" b="0" i="0">
                <a:solidFill>
                  <a:srgbClr val="334155"/>
                </a:solidFill>
                <a:latin typeface="Noto Sans CJK JP"/>
              </a:rPr>
              <a:t>天井俯瞰視点からペグおよび受台穴の水平2次元座標 (X, Y) と上面重心を安定トラッキング。ターゲット色選択と初期位置推定を担当。</a:t>
            </a:r>
          </a:p>
          <a:p>
            <a:pPr>
              <a:spcAft>
                <a:spcPts val="400"/>
              </a:spcAft>
            </a:pPr>
            <a:r>
              <a:rPr sz="950" b="1" i="0">
                <a:solidFill>
                  <a:srgbClr val="7D8066"/>
                </a:solidFill>
                <a:latin typeface="Noto Sans CJK JP"/>
              </a:rPr>
              <a:t>• 側面サブカメラ: </a:t>
            </a:r>
            <a:r>
              <a:rPr sz="950" b="0" i="0">
                <a:solidFill>
                  <a:srgbClr val="334155"/>
                </a:solidFill>
                <a:latin typeface="Noto Sans CJK JP"/>
              </a:rPr>
              <a:t>斜め真横視点からペグの昇降高度 Z、受台穴直上での鉛直アライメント、ペグ底部の接地状態、および進入時の傾斜角 Δtilt を監視。</a:t>
            </a:r>
          </a:p>
        </p:txBody>
      </p:sp>
      <p:sp>
        <p:nvSpPr>
          <p:cNvPr id="11" name="Rounded Rectangle 10"/>
          <p:cNvSpPr/>
          <p:nvPr/>
        </p:nvSpPr>
        <p:spPr>
          <a:xfrm>
            <a:off x="6217920" y="3886200"/>
            <a:ext cx="5425135" cy="23774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023360"/>
            <a:ext cx="5029200" cy="2103120"/>
          </a:xfrm>
          <a:prstGeom prst="rect">
            <a:avLst/>
          </a:prstGeom>
          <a:noFill/>
        </p:spPr>
        <p:txBody>
          <a:bodyPr wrap="square" lIns="0" tIns="0" rIns="0" bIns="0">
            <a:spAutoFit/>
          </a:bodyPr>
          <a:lstStyle/>
          <a:p>
            <a:pPr>
              <a:spcAft>
                <a:spcPts val="400"/>
              </a:spcAft>
            </a:pPr>
            <a:r>
              <a:rPr sz="1200" b="1" i="0">
                <a:solidFill>
                  <a:srgbClr val="0F172A"/>
                </a:solidFill>
                <a:latin typeface="Noto Sans CJK JP"/>
              </a:rPr>
              <a:t>⚙️ CRANE+ V2 関節構成 ＆ 制御仕様</a:t>
            </a:r>
          </a:p>
          <a:p>
            <a:pPr>
              <a:spcAft>
                <a:spcPts val="300"/>
              </a:spcAft>
            </a:pPr>
            <a:r>
              <a:rPr sz="950" b="1" i="0">
                <a:solidFill>
                  <a:srgbClr val="0F172A"/>
                </a:solidFill>
                <a:latin typeface="Noto Sans CJK JP"/>
              </a:rPr>
              <a:t>• J1 (Base Yaw): </a:t>
            </a:r>
            <a:r>
              <a:rPr sz="950" b="0" i="0">
                <a:solidFill>
                  <a:srgbClr val="334155"/>
                </a:solidFill>
                <a:latin typeface="Noto Sans CJK JP"/>
              </a:rPr>
              <a:t>旋回軸 (±2.61 rad)。ターゲットペグの偏角方向へアーム全体を指向。</a:t>
            </a:r>
          </a:p>
          <a:p>
            <a:pPr>
              <a:spcAft>
                <a:spcPts val="300"/>
              </a:spcAft>
            </a:pPr>
            <a:r>
              <a:rPr sz="950" b="1" i="0">
                <a:solidFill>
                  <a:srgbClr val="0F172A"/>
                </a:solidFill>
                <a:latin typeface="Noto Sans CJK JP"/>
              </a:rPr>
              <a:t>• J2 / J3 (Shoulder / Elbow): </a:t>
            </a:r>
            <a:r>
              <a:rPr sz="950" b="0" i="0">
                <a:solidFill>
                  <a:srgbClr val="334155"/>
                </a:solidFill>
                <a:latin typeface="Noto Sans CJK JP"/>
              </a:rPr>
              <a:t>前後リーチおよび高度Z制御 (±1.74 rad / ±2.61 rad)。</a:t>
            </a:r>
          </a:p>
          <a:p>
            <a:pPr>
              <a:spcAft>
                <a:spcPts val="300"/>
              </a:spcAft>
            </a:pPr>
            <a:r>
              <a:rPr sz="950" b="1" i="0">
                <a:solidFill>
                  <a:srgbClr val="0F172A"/>
                </a:solidFill>
                <a:latin typeface="Noto Sans CJK JP"/>
              </a:rPr>
              <a:t>• J4 (Wrist Pitch): </a:t>
            </a:r>
            <a:r>
              <a:rPr sz="950" b="0" i="0">
                <a:solidFill>
                  <a:srgbClr val="334155"/>
                </a:solidFill>
                <a:latin typeface="Noto Sans CJK JP"/>
              </a:rPr>
              <a:t>手首ピッチ角制御 (±1.84 rad)。ペグを机上・穴に対して真下（鉛直）に維持。</a:t>
            </a:r>
          </a:p>
          <a:p>
            <a:pPr>
              <a:spcAft>
                <a:spcPts val="300"/>
              </a:spcAft>
            </a:pPr>
            <a:r>
              <a:rPr sz="950" b="1" i="0">
                <a:solidFill>
                  <a:srgbClr val="0F172A"/>
                </a:solidFill>
                <a:latin typeface="Noto Sans CJK JP"/>
              </a:rPr>
              <a:t>• Hand (Gripper): </a:t>
            </a:r>
            <a:r>
              <a:rPr sz="950" b="0" i="0">
                <a:solidFill>
                  <a:srgbClr val="334155"/>
                </a:solidFill>
                <a:latin typeface="Noto Sans CJK JP"/>
              </a:rPr>
              <a:t>平行爪把持 (0.0: 完全閉 〜 0.8: 完全開)。非対称リンク（右可動爪13mm長）。</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777240"/>
          </a:xfrm>
          <a:prstGeom prst="rect">
            <a:avLst/>
          </a:prstGeom>
          <a:noFill/>
        </p:spPr>
        <p:txBody>
          <a:bodyPr wrap="square" lIns="0" tIns="0" rIns="0" bIns="0">
            <a:spAutoFit/>
          </a:bodyPr>
          <a:lstStyle/>
          <a:p>
            <a:pPr>
              <a:spcAft>
                <a:spcPts val="200"/>
              </a:spcAft>
            </a:pPr>
            <a:r>
              <a:rPr sz="1000" b="1" i="0">
                <a:solidFill>
                  <a:srgbClr val="7D8066"/>
                </a:solidFill>
                <a:latin typeface="Noto Sans CJK JP"/>
              </a:rPr>
              <a:t>【STEP 2: 人手教示データ収集】</a:t>
            </a:r>
          </a:p>
          <a:p>
            <a:r>
              <a:rPr sz="1900" b="1" i="0">
                <a:solidFill>
                  <a:srgbClr val="0F172A"/>
                </a:solidFill>
                <a:latin typeface="Noto Sans CJK JP"/>
              </a:rPr>
              <a:t>3. Step 2: 人間操作によるデータ収集 (Teleoperation)</a:t>
            </a:r>
          </a:p>
        </p:txBody>
      </p:sp>
      <p:sp>
        <p:nvSpPr>
          <p:cNvPr id="3" name="Rectangle 2"/>
          <p:cNvSpPr/>
          <p:nvPr/>
        </p:nvSpPr>
        <p:spPr>
          <a:xfrm>
            <a:off x="548640" y="1143000"/>
            <a:ext cx="11094415" cy="22860"/>
          </a:xfrm>
          <a:prstGeom prst="rect">
            <a:avLst/>
          </a:prstGeom>
          <a:solidFill>
            <a:srgbClr val="9C9F84"/>
          </a:solidFill>
          <a:ln>
            <a:solidFill>
              <a:srgbClr val="9C9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46520"/>
            <a:ext cx="11094415" cy="914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7315200" cy="274320"/>
          </a:xfrm>
          <a:prstGeom prst="rect">
            <a:avLst/>
          </a:prstGeom>
          <a:noFill/>
        </p:spPr>
        <p:txBody>
          <a:bodyPr wrap="none" lIns="0" tIns="0" rIns="0" bIns="0">
            <a:spAutoFit/>
          </a:bodyPr>
          <a:lstStyle/>
          <a:p>
            <a:r>
              <a:rPr sz="850" b="0" i="0">
                <a:solidFill>
                  <a:srgbClr val="64748B"/>
                </a:solidFill>
                <a:latin typeface="Noto Sans CJK JP"/>
              </a:rPr>
              <a:t>Physical AI 応用編1 知能ロボティクス講座 最終課題発表 | 松尾・岩澤研究室</a:t>
            </a:r>
          </a:p>
        </p:txBody>
      </p:sp>
      <p:sp>
        <p:nvSpPr>
          <p:cNvPr id="6" name="TextBox 5"/>
          <p:cNvSpPr txBox="1"/>
          <p:nvPr/>
        </p:nvSpPr>
        <p:spPr>
          <a:xfrm>
            <a:off x="8686800" y="6492240"/>
            <a:ext cx="2956255" cy="274320"/>
          </a:xfrm>
          <a:prstGeom prst="rect">
            <a:avLst/>
          </a:prstGeom>
          <a:noFill/>
        </p:spPr>
        <p:txBody>
          <a:bodyPr wrap="none" lIns="0" tIns="0" rIns="0" bIns="0">
            <a:spAutoFit/>
          </a:bodyPr>
          <a:lstStyle/>
          <a:p>
            <a:pPr algn="r"/>
            <a:r>
              <a:rPr sz="900" b="1" i="0">
                <a:solidFill>
                  <a:srgbClr val="64748B"/>
                </a:solidFill>
                <a:latin typeface="Noto Sans CJK JP"/>
              </a:rPr>
              <a:t>4 / 13</a:t>
            </a:r>
          </a:p>
        </p:txBody>
      </p:sp>
      <p:sp>
        <p:nvSpPr>
          <p:cNvPr id="7" name="Rounded Rectangle 6"/>
          <p:cNvSpPr/>
          <p:nvPr/>
        </p:nvSpPr>
        <p:spPr>
          <a:xfrm>
            <a:off x="548640" y="1280160"/>
            <a:ext cx="5303520"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4937760" cy="4663440"/>
          </a:xfrm>
          <a:prstGeom prst="rect">
            <a:avLst/>
          </a:prstGeom>
          <a:noFill/>
        </p:spPr>
        <p:txBody>
          <a:bodyPr wrap="square" lIns="0" tIns="0" rIns="0" bIns="0">
            <a:spAutoFit/>
          </a:bodyPr>
          <a:lstStyle/>
          <a:p>
            <a:pPr>
              <a:spcAft>
                <a:spcPts val="600"/>
              </a:spcAft>
            </a:pPr>
            <a:r>
              <a:rPr sz="1300" b="1" i="0">
                <a:solidFill>
                  <a:srgbClr val="0F172A"/>
                </a:solidFill>
                <a:latin typeface="Noto Sans CJK JP"/>
              </a:rPr>
              <a:t>🎮 テレオペレーションによる教示記録</a:t>
            </a:r>
          </a:p>
          <a:p>
            <a:pPr>
              <a:spcAft>
                <a:spcPts val="600"/>
              </a:spcAft>
            </a:pPr>
            <a:r>
              <a:rPr sz="1000" b="1" i="0">
                <a:solidFill>
                  <a:srgbClr val="0F172A"/>
                </a:solidFill>
                <a:latin typeface="Noto Sans CJK JP"/>
              </a:rPr>
              <a:t>• 目的: </a:t>
            </a:r>
            <a:r>
              <a:rPr sz="1000" b="0" i="0">
                <a:solidFill>
                  <a:srgbClr val="334155"/>
                </a:solidFill>
                <a:latin typeface="Noto Sans CJK JP"/>
              </a:rPr>
              <a:t>人間オペレータによる遠隔操作を通じて、タスク達成（ペグ把持・整姿・挿入）に必要な初期のお手本軌道（Demonstrations）を記録・保存。</a:t>
            </a:r>
          </a:p>
          <a:p>
            <a:pPr>
              <a:spcAft>
                <a:spcPts val="600"/>
              </a:spcAft>
            </a:pPr>
            <a:r>
              <a:rPr sz="1000" b="1" i="0">
                <a:solidFill>
                  <a:srgbClr val="0F172A"/>
                </a:solidFill>
                <a:latin typeface="Noto Sans CJK JP"/>
              </a:rPr>
              <a:t>• 操作インターフェース: </a:t>
            </a:r>
            <a:r>
              <a:rPr sz="1000" b="0" i="0">
                <a:solidFill>
                  <a:srgbClr val="334155"/>
                </a:solidFill>
                <a:latin typeface="Noto Sans CJK JP"/>
              </a:rPr>
              <a:t>RViz 2 上に 6D Interactive Marker を展開し、目標位置姿勢に対する数値逆運動学（IK）計算を介してロボット関節角をリアルタイム指令。</a:t>
            </a:r>
          </a:p>
          <a:p>
            <a:pPr>
              <a:spcAft>
                <a:spcPts val="600"/>
              </a:spcAft>
            </a:pPr>
            <a:r>
              <a:rPr sz="1000" b="1" i="0">
                <a:solidFill>
                  <a:srgbClr val="0F172A"/>
                </a:solidFill>
                <a:latin typeface="Noto Sans CJK JP"/>
              </a:rPr>
              <a:t>• 記録トピック群: </a:t>
            </a:r>
            <a:r>
              <a:rPr sz="1000" b="0" i="0">
                <a:solidFill>
                  <a:srgbClr val="334155"/>
                </a:solidFill>
                <a:latin typeface="Noto Sans CJK JP"/>
              </a:rPr>
              <a:t>ROS 2 bag ファイルとして /image_raw (正面), /side_camera/image_raw (側面), /joint_states (関節現在値), アーム・グリッパー目標軌道を完全同期記録。</a:t>
            </a:r>
          </a:p>
          <a:p>
            <a:pPr>
              <a:spcAft>
                <a:spcPts val="600"/>
              </a:spcAft>
            </a:pPr>
            <a:r>
              <a:rPr sz="1000" b="1" i="0">
                <a:solidFill>
                  <a:srgbClr val="0F172A"/>
                </a:solidFill>
                <a:latin typeface="Noto Sans CJK JP"/>
              </a:rPr>
              <a:t>• 記録データ形式: </a:t>
            </a:r>
            <a:r>
              <a:rPr sz="1000" b="0" i="0">
                <a:solidFill>
                  <a:srgbClr val="334155"/>
                </a:solidFill>
                <a:latin typeface="Noto Sans CJK JP"/>
              </a:rPr>
              <a:t>エピソード単位でタイムスタンプ、4軸関節現在角（Position）、グリッパー開度、双眼カメラRGBフレーム、エンドエフェクタ6D姿勢を保存。</a:t>
            </a:r>
          </a:p>
        </p:txBody>
      </p:sp>
      <p:sp>
        <p:nvSpPr>
          <p:cNvPr id="9" name="Rounded Rectangle 8"/>
          <p:cNvSpPr/>
          <p:nvPr/>
        </p:nvSpPr>
        <p:spPr>
          <a:xfrm>
            <a:off x="6035040" y="1280160"/>
            <a:ext cx="5608015"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417320"/>
            <a:ext cx="5212080" cy="4663440"/>
          </a:xfrm>
          <a:prstGeom prst="rect">
            <a:avLst/>
          </a:prstGeom>
          <a:noFill/>
        </p:spPr>
        <p:txBody>
          <a:bodyPr wrap="square" lIns="0" tIns="0" rIns="0" bIns="0">
            <a:spAutoFit/>
          </a:bodyPr>
          <a:lstStyle/>
          <a:p>
            <a:pPr>
              <a:spcAft>
                <a:spcPts val="600"/>
              </a:spcAft>
            </a:pPr>
            <a:r>
              <a:rPr sz="1300" b="1" i="0">
                <a:solidFill>
                  <a:srgbClr val="DC2626"/>
                </a:solidFill>
                <a:latin typeface="Noto Sans CJK JP"/>
              </a:rPr>
              <a:t>⚠️ 直面した技術的課題（人手テレオペの限界）</a:t>
            </a:r>
          </a:p>
          <a:p>
            <a:pPr>
              <a:spcAft>
                <a:spcPts val="600"/>
              </a:spcAft>
            </a:pPr>
            <a:r>
              <a:rPr sz="1000" b="1" i="0">
                <a:solidFill>
                  <a:srgbClr val="0F172A"/>
                </a:solidFill>
                <a:latin typeface="Noto Sans CJK JP"/>
              </a:rPr>
              <a:t>• 操作ばらつきと疲労: </a:t>
            </a:r>
            <a:r>
              <a:rPr sz="1000" b="0" i="0">
                <a:solidFill>
                  <a:srgbClr val="334155"/>
                </a:solidFill>
                <a:latin typeface="Noto Sans CJK JP"/>
              </a:rPr>
              <a:t>マウスポインタ操作による微細な位置決めのブレ、手ブレ、オペレータ疲労に伴う軌道ばらつきが顕著に発生。一定品質のデータ収集が極めて困難。</a:t>
            </a:r>
          </a:p>
          <a:p>
            <a:pPr>
              <a:spcAft>
                <a:spcPts val="600"/>
              </a:spcAft>
            </a:pPr>
            <a:r>
              <a:rPr sz="1000" b="1" i="0">
                <a:solidFill>
                  <a:srgbClr val="0F172A"/>
                </a:solidFill>
                <a:latin typeface="Noto Sans CJK JP"/>
              </a:rPr>
              <a:t>• データ収集コストの急増: </a:t>
            </a:r>
            <a:r>
              <a:rPr sz="1000" b="0" i="0">
                <a:solidFill>
                  <a:srgbClr val="334155"/>
                </a:solidFill>
                <a:latin typeface="Noto Sans CJK JP"/>
              </a:rPr>
              <a:t>1エピソードあたり数分を要し、深層学習（ACT）の汎化に必要な数十〜数百エピソードの人手収集は人的・時間的コストが爆発。</a:t>
            </a:r>
          </a:p>
          <a:p>
            <a:pPr>
              <a:spcAft>
                <a:spcPts val="600"/>
              </a:spcAft>
            </a:pPr>
            <a:r>
              <a:rPr sz="1000" b="1" i="0">
                <a:solidFill>
                  <a:srgbClr val="0F172A"/>
                </a:solidFill>
                <a:latin typeface="Noto Sans CJK JP"/>
              </a:rPr>
              <a:t>• 接触時のペグ傾斜とカジリ: </a:t>
            </a:r>
            <a:r>
              <a:rPr sz="1000" b="0" i="0">
                <a:solidFill>
                  <a:srgbClr val="334155"/>
                </a:solidFill>
                <a:latin typeface="Noto Sans CJK JP"/>
              </a:rPr>
              <a:t>把持位置や下降角度のわずかなズレにより、クリアランス2mmの穴縁に接触してペグが斜めに傾倒し、摩擦ロック（カジリ）で挿入失敗が多発。</a:t>
            </a:r>
          </a:p>
          <a:p>
            <a:pPr>
              <a:spcAft>
                <a:spcPts val="600"/>
              </a:spcAft>
            </a:pPr>
            <a:r>
              <a:rPr sz="1000" b="1" i="0">
                <a:solidFill>
                  <a:srgbClr val="7D8066"/>
                </a:solidFill>
                <a:latin typeface="Noto Sans CJK JP"/>
              </a:rPr>
              <a:t>• 【結論】力まかせ収集の破綻: </a:t>
            </a:r>
            <a:r>
              <a:rPr sz="1000" b="0" i="0">
                <a:solidFill>
                  <a:srgbClr val="334155"/>
                </a:solidFill>
                <a:latin typeface="Noto Sans CJK JP"/>
              </a:rPr>
              <a:t>人手テレオペの収集数を増やすアプローチは非現実的。機構学的補正制御を備えた高精度物理モデルを構築し、そこから自己学習（自己改善ループ）を回すことが不可欠と判断。</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777240"/>
          </a:xfrm>
          <a:prstGeom prst="rect">
            <a:avLst/>
          </a:prstGeom>
          <a:noFill/>
        </p:spPr>
        <p:txBody>
          <a:bodyPr wrap="square" lIns="0" tIns="0" rIns="0" bIns="0">
            <a:spAutoFit/>
          </a:bodyPr>
          <a:lstStyle/>
          <a:p>
            <a:pPr>
              <a:spcAft>
                <a:spcPts val="200"/>
              </a:spcAft>
            </a:pPr>
            <a:r>
              <a:rPr sz="1000" b="1" i="0">
                <a:solidFill>
                  <a:srgbClr val="7D8066"/>
                </a:solidFill>
                <a:latin typeface="Noto Sans CJK JP"/>
              </a:rPr>
              <a:t>【STEP 3: データ前処理・特徴量化】</a:t>
            </a:r>
          </a:p>
          <a:p>
            <a:r>
              <a:rPr sz="1900" b="1" i="0">
                <a:solidFill>
                  <a:srgbClr val="0F172A"/>
                </a:solidFill>
                <a:latin typeface="Noto Sans CJK JP"/>
              </a:rPr>
              <a:t>4. Step 3: データ前処理・同期 ＆ 14次元アフォーダンス特徴量化</a:t>
            </a:r>
          </a:p>
        </p:txBody>
      </p:sp>
      <p:sp>
        <p:nvSpPr>
          <p:cNvPr id="3" name="Rectangle 2"/>
          <p:cNvSpPr/>
          <p:nvPr/>
        </p:nvSpPr>
        <p:spPr>
          <a:xfrm>
            <a:off x="548640" y="1143000"/>
            <a:ext cx="11094415" cy="22860"/>
          </a:xfrm>
          <a:prstGeom prst="rect">
            <a:avLst/>
          </a:prstGeom>
          <a:solidFill>
            <a:srgbClr val="9C9F84"/>
          </a:solidFill>
          <a:ln>
            <a:solidFill>
              <a:srgbClr val="9C9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46520"/>
            <a:ext cx="11094415" cy="914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7315200" cy="274320"/>
          </a:xfrm>
          <a:prstGeom prst="rect">
            <a:avLst/>
          </a:prstGeom>
          <a:noFill/>
        </p:spPr>
        <p:txBody>
          <a:bodyPr wrap="none" lIns="0" tIns="0" rIns="0" bIns="0">
            <a:spAutoFit/>
          </a:bodyPr>
          <a:lstStyle/>
          <a:p>
            <a:r>
              <a:rPr sz="850" b="0" i="0">
                <a:solidFill>
                  <a:srgbClr val="64748B"/>
                </a:solidFill>
                <a:latin typeface="Noto Sans CJK JP"/>
              </a:rPr>
              <a:t>Physical AI 応用編1 知能ロボティクス講座 最終課題発表 | 松尾・岩澤研究室</a:t>
            </a:r>
          </a:p>
        </p:txBody>
      </p:sp>
      <p:sp>
        <p:nvSpPr>
          <p:cNvPr id="6" name="TextBox 5"/>
          <p:cNvSpPr txBox="1"/>
          <p:nvPr/>
        </p:nvSpPr>
        <p:spPr>
          <a:xfrm>
            <a:off x="8686800" y="6492240"/>
            <a:ext cx="2956255" cy="274320"/>
          </a:xfrm>
          <a:prstGeom prst="rect">
            <a:avLst/>
          </a:prstGeom>
          <a:noFill/>
        </p:spPr>
        <p:txBody>
          <a:bodyPr wrap="none" lIns="0" tIns="0" rIns="0" bIns="0">
            <a:spAutoFit/>
          </a:bodyPr>
          <a:lstStyle/>
          <a:p>
            <a:pPr algn="r"/>
            <a:r>
              <a:rPr sz="900" b="1" i="0">
                <a:solidFill>
                  <a:srgbClr val="64748B"/>
                </a:solidFill>
                <a:latin typeface="Noto Sans CJK JP"/>
              </a:rPr>
              <a:t>5 / 13</a:t>
            </a:r>
          </a:p>
        </p:txBody>
      </p:sp>
      <p:sp>
        <p:nvSpPr>
          <p:cNvPr id="7" name="Rounded Rectangle 6"/>
          <p:cNvSpPr/>
          <p:nvPr/>
        </p:nvSpPr>
        <p:spPr>
          <a:xfrm>
            <a:off x="548640" y="1280160"/>
            <a:ext cx="5303520"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4937760" cy="4663440"/>
          </a:xfrm>
          <a:prstGeom prst="rect">
            <a:avLst/>
          </a:prstGeom>
          <a:noFill/>
        </p:spPr>
        <p:txBody>
          <a:bodyPr wrap="square" lIns="0" tIns="0" rIns="0" bIns="0">
            <a:spAutoFit/>
          </a:bodyPr>
          <a:lstStyle/>
          <a:p>
            <a:pPr>
              <a:spcAft>
                <a:spcPts val="600"/>
              </a:spcAft>
            </a:pPr>
            <a:r>
              <a:rPr sz="1300" b="1" i="0">
                <a:solidFill>
                  <a:srgbClr val="0F172A"/>
                </a:solidFill>
                <a:latin typeface="Noto Sans CJK JP"/>
              </a:rPr>
              <a:t>🔄 時間同期 ＆ 駆動マスキング仕様</a:t>
            </a:r>
          </a:p>
          <a:p>
            <a:pPr>
              <a:spcAft>
                <a:spcPts val="600"/>
              </a:spcAft>
            </a:pPr>
            <a:r>
              <a:rPr sz="1000" b="1" i="0">
                <a:solidFill>
                  <a:srgbClr val="0F172A"/>
                </a:solidFill>
                <a:latin typeface="Noto Sans CJK JP"/>
              </a:rPr>
              <a:t>• 前処理目的: </a:t>
            </a:r>
            <a:r>
              <a:rPr sz="1000" b="0" i="0">
                <a:solidFill>
                  <a:srgbClr val="334155"/>
                </a:solidFill>
                <a:latin typeface="Noto Sans CJK JP"/>
              </a:rPr>
              <a:t>サンプリング周波数の異なる非同期センサ群（関節角50Hz、画像30Hz）を統一し、ニューラルネットワークに適したクリーンなデータセットを構築。</a:t>
            </a:r>
          </a:p>
          <a:p>
            <a:pPr>
              <a:spcAft>
                <a:spcPts val="600"/>
              </a:spcAft>
            </a:pPr>
            <a:r>
              <a:rPr sz="1000" b="1" i="0">
                <a:solidFill>
                  <a:srgbClr val="0F172A"/>
                </a:solidFill>
                <a:latin typeface="Noto Sans CJK JP"/>
              </a:rPr>
              <a:t>• 20Hz 厳格時間同期: </a:t>
            </a:r>
            <a:r>
              <a:rPr sz="1000" b="0" i="0">
                <a:solidFill>
                  <a:srgbClr val="334155"/>
                </a:solidFill>
                <a:latin typeface="Noto Sans CJK JP"/>
              </a:rPr>
              <a:t>ApproximateTimeSynchronizer により 20Hz (50ms周期) で画像フレームと関節状態を完全同期。ジッターやタイムラグによる因果性破綻を防止。</a:t>
            </a:r>
          </a:p>
          <a:p>
            <a:pPr>
              <a:spcAft>
                <a:spcPts val="600"/>
              </a:spcAft>
            </a:pPr>
            <a:r>
              <a:rPr sz="1000" b="1" i="0">
                <a:solidFill>
                  <a:srgbClr val="0F172A"/>
                </a:solidFill>
                <a:latin typeface="Noto Sans CJK JP"/>
              </a:rPr>
              <a:t>• 静止ノイズ自動マスキング: </a:t>
            </a:r>
            <a:r>
              <a:rPr sz="1000" b="0" i="0">
                <a:solidFill>
                  <a:srgbClr val="334155"/>
                </a:solidFill>
                <a:latin typeface="Noto Sans CJK JP"/>
              </a:rPr>
              <a:t>動作開始前の待機時間や操作間の静止・不感帯フレームを自動検知して除去。全エピソード合計 1,634フレームの純粋動作シーケンスへ濃縮。</a:t>
            </a:r>
          </a:p>
          <a:p>
            <a:pPr>
              <a:spcAft>
                <a:spcPts val="600"/>
              </a:spcAft>
            </a:pPr>
            <a:r>
              <a:rPr sz="1000" b="1" i="0">
                <a:solidFill>
                  <a:srgbClr val="0F172A"/>
                </a:solidFill>
                <a:latin typeface="Noto Sans CJK JP"/>
              </a:rPr>
              <a:t>• 統計的正規化 (Z-Score): </a:t>
            </a:r>
            <a:r>
              <a:rPr sz="1000" b="0" i="0">
                <a:solidFill>
                  <a:srgbClr val="334155"/>
                </a:solidFill>
                <a:latin typeface="Noto Sans CJK JP"/>
              </a:rPr>
              <a:t>データセット全体から平均値ベクトル μ と標準偏差ベクトル σ を算出し正規化。欠損値（NaN/Infゼロ）および外れ値を完全排除。</a:t>
            </a:r>
          </a:p>
        </p:txBody>
      </p:sp>
      <p:sp>
        <p:nvSpPr>
          <p:cNvPr id="9" name="Rounded Rectangle 8"/>
          <p:cNvSpPr/>
          <p:nvPr/>
        </p:nvSpPr>
        <p:spPr>
          <a:xfrm>
            <a:off x="6035040" y="1280160"/>
            <a:ext cx="5608015"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417320"/>
            <a:ext cx="5212080" cy="4663440"/>
          </a:xfrm>
          <a:prstGeom prst="rect">
            <a:avLst/>
          </a:prstGeom>
          <a:noFill/>
        </p:spPr>
        <p:txBody>
          <a:bodyPr wrap="square" lIns="0" tIns="0" rIns="0" bIns="0">
            <a:spAutoFit/>
          </a:bodyPr>
          <a:lstStyle/>
          <a:p>
            <a:pPr>
              <a:spcAft>
                <a:spcPts val="600"/>
              </a:spcAft>
            </a:pPr>
            <a:r>
              <a:rPr sz="1300" b="1" i="0">
                <a:solidFill>
                  <a:srgbClr val="0F172A"/>
                </a:solidFill>
                <a:latin typeface="Noto Sans CJK JP"/>
              </a:rPr>
              <a:t>📊 14次元物理アフォーダンス特徴量ベクトルの構造</a:t>
            </a:r>
          </a:p>
          <a:p>
            <a:pPr>
              <a:spcAft>
                <a:spcPts val="500"/>
              </a:spcAft>
            </a:pPr>
            <a:r>
              <a:rPr sz="950" b="1" i="0">
                <a:solidFill>
                  <a:srgbClr val="7D8066"/>
                </a:solidFill>
                <a:latin typeface="Noto Sans CJK JP"/>
              </a:rPr>
              <a:t>• ① 関節現在角 (4次元): </a:t>
            </a:r>
            <a:r>
              <a:rPr sz="950" b="0" i="0">
                <a:solidFill>
                  <a:srgbClr val="334155"/>
                </a:solidFill>
                <a:latin typeface="Noto Sans CJK JP"/>
              </a:rPr>
              <a:t>joint1 (旋回), joint2 (肩), joint3 (肘), joint4 (手首ピッチ) の現在角度 [rad]。ロボット自身の姿勢状態を表現。</a:t>
            </a:r>
          </a:p>
          <a:p>
            <a:pPr>
              <a:spcAft>
                <a:spcPts val="500"/>
              </a:spcAft>
            </a:pPr>
            <a:r>
              <a:rPr sz="950" b="1" i="0">
                <a:solidFill>
                  <a:srgbClr val="7D8066"/>
                </a:solidFill>
                <a:latin typeface="Noto Sans CJK JP"/>
              </a:rPr>
              <a:t>• ② グリッパー開度 (1次元): </a:t>
            </a:r>
            <a:r>
              <a:rPr sz="950" b="0" i="0">
                <a:solidFill>
                  <a:srgbClr val="334155"/>
                </a:solidFill>
                <a:latin typeface="Noto Sans CJK JP"/>
              </a:rPr>
              <a:t>finger_joint 開度 (0.0: 完全閉 〜 0.8: 完全開)。把持・解放フェーズを特定。</a:t>
            </a:r>
          </a:p>
          <a:p>
            <a:pPr>
              <a:spcAft>
                <a:spcPts val="500"/>
              </a:spcAft>
            </a:pPr>
            <a:r>
              <a:rPr sz="950" b="1" i="0">
                <a:solidFill>
                  <a:srgbClr val="7D8066"/>
                </a:solidFill>
                <a:latin typeface="Noto Sans CJK JP"/>
              </a:rPr>
              <a:t>• ③ 関節目標角速度 (4次元): </a:t>
            </a:r>
            <a:r>
              <a:rPr sz="950" b="0" i="0">
                <a:solidFill>
                  <a:srgbClr val="334155"/>
                </a:solidFill>
                <a:latin typeface="Noto Sans CJK JP"/>
              </a:rPr>
              <a:t>次ステップへの動的角速度指令値 [rad/s]。動作の勢い・躍度をモデリング。</a:t>
            </a:r>
          </a:p>
          <a:p>
            <a:pPr>
              <a:spcAft>
                <a:spcPts val="500"/>
              </a:spcAft>
            </a:pPr>
            <a:r>
              <a:rPr sz="950" b="1" i="0">
                <a:solidFill>
                  <a:srgbClr val="7D8066"/>
                </a:solidFill>
                <a:latin typeface="Noto Sans CJK JP"/>
              </a:rPr>
              <a:t>• ④ 空間アフォーダンス特徴 (5次元): </a:t>
            </a:r>
            <a:r>
              <a:rPr sz="950" b="0" i="0">
                <a:solidFill>
                  <a:srgbClr val="334155"/>
                </a:solidFill>
                <a:latin typeface="Noto Sans CJK JP"/>
              </a:rPr>
              <a:t>ペグ推定3D相対位置 (X, Y, Z)、受台穴推定相対位置、物体把持判定フラグ。視覚認識と幾何学位置を直接結合。</a:t>
            </a:r>
          </a:p>
          <a:p>
            <a:pPr>
              <a:spcAft>
                <a:spcPts val="500"/>
              </a:spcAft>
            </a:pPr>
            <a:r>
              <a:rPr sz="950" b="1" i="0">
                <a:solidFill>
                  <a:srgbClr val="0F172A"/>
                </a:solidFill>
                <a:latin typeface="Noto Sans CJK JP"/>
              </a:rPr>
              <a:t>• 【検証成果】数値健全性100%: </a:t>
            </a:r>
            <a:r>
              <a:rPr sz="950" b="0" i="0">
                <a:solidFill>
                  <a:srgbClr val="334155"/>
                </a:solidFill>
                <a:latin typeface="Noto Sans CJK JP"/>
              </a:rPr>
              <a:t>全6エピソード統合データセットにおいて、静止ノイズゼロ・NaN/Infゼロを確認し、モデル学習の確固たる基盤を確立。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777240"/>
          </a:xfrm>
          <a:prstGeom prst="rect">
            <a:avLst/>
          </a:prstGeom>
          <a:noFill/>
        </p:spPr>
        <p:txBody>
          <a:bodyPr wrap="square" lIns="0" tIns="0" rIns="0" bIns="0">
            <a:spAutoFit/>
          </a:bodyPr>
          <a:lstStyle/>
          <a:p>
            <a:pPr>
              <a:spcAft>
                <a:spcPts val="200"/>
              </a:spcAft>
            </a:pPr>
            <a:r>
              <a:rPr sz="1000" b="1" i="0">
                <a:solidFill>
                  <a:srgbClr val="7D8066"/>
                </a:solidFill>
                <a:latin typeface="Noto Sans CJK JP"/>
              </a:rPr>
              <a:t>【STEP 4: 初期模倣学習 ＆ 課題露呈】</a:t>
            </a:r>
          </a:p>
          <a:p>
            <a:r>
              <a:rPr sz="1900" b="1" i="0">
                <a:solidFill>
                  <a:srgbClr val="0F172A"/>
                </a:solidFill>
                <a:latin typeface="Noto Sans CJK JP"/>
              </a:rPr>
              <a:t>5. Step 4: 初期模倣学習 (ACT) ＆ 人手データの限界</a:t>
            </a:r>
          </a:p>
        </p:txBody>
      </p:sp>
      <p:sp>
        <p:nvSpPr>
          <p:cNvPr id="3" name="Rectangle 2"/>
          <p:cNvSpPr/>
          <p:nvPr/>
        </p:nvSpPr>
        <p:spPr>
          <a:xfrm>
            <a:off x="548640" y="1143000"/>
            <a:ext cx="11094415" cy="22860"/>
          </a:xfrm>
          <a:prstGeom prst="rect">
            <a:avLst/>
          </a:prstGeom>
          <a:solidFill>
            <a:srgbClr val="9C9F84"/>
          </a:solidFill>
          <a:ln>
            <a:solidFill>
              <a:srgbClr val="9C9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46520"/>
            <a:ext cx="11094415" cy="914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7315200" cy="274320"/>
          </a:xfrm>
          <a:prstGeom prst="rect">
            <a:avLst/>
          </a:prstGeom>
          <a:noFill/>
        </p:spPr>
        <p:txBody>
          <a:bodyPr wrap="none" lIns="0" tIns="0" rIns="0" bIns="0">
            <a:spAutoFit/>
          </a:bodyPr>
          <a:lstStyle/>
          <a:p>
            <a:r>
              <a:rPr sz="850" b="0" i="0">
                <a:solidFill>
                  <a:srgbClr val="64748B"/>
                </a:solidFill>
                <a:latin typeface="Noto Sans CJK JP"/>
              </a:rPr>
              <a:t>Physical AI 応用編1 知能ロボティクス講座 最終課題発表 | 松尾・岩澤研究室</a:t>
            </a:r>
          </a:p>
        </p:txBody>
      </p:sp>
      <p:sp>
        <p:nvSpPr>
          <p:cNvPr id="6" name="TextBox 5"/>
          <p:cNvSpPr txBox="1"/>
          <p:nvPr/>
        </p:nvSpPr>
        <p:spPr>
          <a:xfrm>
            <a:off x="8686800" y="6492240"/>
            <a:ext cx="2956255" cy="274320"/>
          </a:xfrm>
          <a:prstGeom prst="rect">
            <a:avLst/>
          </a:prstGeom>
          <a:noFill/>
        </p:spPr>
        <p:txBody>
          <a:bodyPr wrap="none" lIns="0" tIns="0" rIns="0" bIns="0">
            <a:spAutoFit/>
          </a:bodyPr>
          <a:lstStyle/>
          <a:p>
            <a:pPr algn="r"/>
            <a:r>
              <a:rPr sz="900" b="1" i="0">
                <a:solidFill>
                  <a:srgbClr val="64748B"/>
                </a:solidFill>
                <a:latin typeface="Noto Sans CJK JP"/>
              </a:rPr>
              <a:t>6 / 13</a:t>
            </a:r>
          </a:p>
        </p:txBody>
      </p:sp>
      <p:sp>
        <p:nvSpPr>
          <p:cNvPr id="7" name="Rounded Rectangle 6"/>
          <p:cNvSpPr/>
          <p:nvPr/>
        </p:nvSpPr>
        <p:spPr>
          <a:xfrm>
            <a:off x="548640" y="1280160"/>
            <a:ext cx="5303520"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4937760" cy="4663440"/>
          </a:xfrm>
          <a:prstGeom prst="rect">
            <a:avLst/>
          </a:prstGeom>
          <a:noFill/>
        </p:spPr>
        <p:txBody>
          <a:bodyPr wrap="square" lIns="0" tIns="0" rIns="0" bIns="0">
            <a:spAutoFit/>
          </a:bodyPr>
          <a:lstStyle/>
          <a:p>
            <a:pPr>
              <a:spcAft>
                <a:spcPts val="600"/>
              </a:spcAft>
            </a:pPr>
            <a:r>
              <a:rPr sz="1300" b="1" i="0">
                <a:solidFill>
                  <a:srgbClr val="0F172A"/>
                </a:solidFill>
                <a:latin typeface="Noto Sans CJK JP"/>
              </a:rPr>
              <a:t>🧠 初期ACT模倣学習モデルの設計</a:t>
            </a:r>
          </a:p>
          <a:p>
            <a:pPr>
              <a:spcAft>
                <a:spcPts val="600"/>
              </a:spcAft>
            </a:pPr>
            <a:r>
              <a:rPr sz="1000" b="1" i="0">
                <a:solidFill>
                  <a:srgbClr val="0F172A"/>
                </a:solidFill>
                <a:latin typeface="Noto Sans CJK JP"/>
              </a:rPr>
              <a:t>• 目的: </a:t>
            </a:r>
            <a:r>
              <a:rPr sz="1000" b="0" i="0">
                <a:solidFill>
                  <a:srgbClr val="334155"/>
                </a:solidFill>
                <a:latin typeface="Noto Sans CJK JP"/>
              </a:rPr>
              <a:t>人手収集データに基づく初期模倣学習モデル（ACT: Action Chunking with Transformers）を構築し、自律実行性能および限界要因を特定。</a:t>
            </a:r>
          </a:p>
          <a:p>
            <a:pPr>
              <a:spcAft>
                <a:spcPts val="600"/>
              </a:spcAft>
            </a:pPr>
            <a:r>
              <a:rPr sz="1000" b="1" i="0">
                <a:solidFill>
                  <a:srgbClr val="0F172A"/>
                </a:solidFill>
                <a:latin typeface="Noto Sans CJK JP"/>
              </a:rPr>
              <a:t>• モデル構造: </a:t>
            </a:r>
            <a:r>
              <a:rPr sz="1000" b="0" i="0">
                <a:solidFill>
                  <a:srgbClr val="334155"/>
                </a:solidFill>
                <a:latin typeface="Noto Sans CJK JP"/>
              </a:rPr>
              <a:t>ResNet-18 バックボーンによる双眼画像特徴抽出器 ＋ CVAE（Conditional Variational Autoencoder）による未来軌道チャンク予測。</a:t>
            </a:r>
          </a:p>
          <a:p>
            <a:pPr>
              <a:spcAft>
                <a:spcPts val="600"/>
              </a:spcAft>
            </a:pPr>
            <a:r>
              <a:rPr sz="1000" b="1" i="0">
                <a:solidFill>
                  <a:srgbClr val="0F172A"/>
                </a:solidFill>
                <a:latin typeface="Noto Sans CJK JP"/>
              </a:rPr>
              <a:t>• 独立ヘッド構造: </a:t>
            </a:r>
            <a:r>
              <a:rPr sz="1000" b="0" i="0">
                <a:solidFill>
                  <a:srgbClr val="334155"/>
                </a:solidFill>
                <a:latin typeface="Noto Sans CJK JP"/>
              </a:rPr>
              <a:t>アーム関節（4DOF: 空間軌道）とグリッパー（1DOF: 把持境界制御）を分離した Twin Policy 構成を採用。</a:t>
            </a:r>
          </a:p>
          <a:p>
            <a:pPr>
              <a:spcAft>
                <a:spcPts val="600"/>
              </a:spcAft>
            </a:pPr>
            <a:r>
              <a:rPr sz="1000" b="1" i="0">
                <a:solidFill>
                  <a:srgbClr val="0F172A"/>
                </a:solidFill>
                <a:latin typeface="Noto Sans CJK JP"/>
              </a:rPr>
              <a:t>• Action Chunking: </a:t>
            </a:r>
            <a:r>
              <a:rPr sz="1000" b="0" i="0">
                <a:solidFill>
                  <a:srgbClr val="334155"/>
                </a:solidFill>
                <a:latin typeface="Noto Sans CJK JP"/>
              </a:rPr>
              <a:t>未来 K=8 ステップの関節指令を並列予測することで、単一ステップ予測に比べて急激な振動を抑制。</a:t>
            </a:r>
          </a:p>
        </p:txBody>
      </p:sp>
      <p:sp>
        <p:nvSpPr>
          <p:cNvPr id="9" name="Rounded Rectangle 8"/>
          <p:cNvSpPr/>
          <p:nvPr/>
        </p:nvSpPr>
        <p:spPr>
          <a:xfrm>
            <a:off x="6035040" y="1280160"/>
            <a:ext cx="5608015"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417320"/>
            <a:ext cx="5212080" cy="4663440"/>
          </a:xfrm>
          <a:prstGeom prst="rect">
            <a:avLst/>
          </a:prstGeom>
          <a:noFill/>
        </p:spPr>
        <p:txBody>
          <a:bodyPr wrap="square" lIns="0" tIns="0" rIns="0" bIns="0">
            <a:spAutoFit/>
          </a:bodyPr>
          <a:lstStyle/>
          <a:p>
            <a:pPr>
              <a:spcAft>
                <a:spcPts val="600"/>
              </a:spcAft>
            </a:pPr>
            <a:r>
              <a:rPr sz="1300" b="1" i="0">
                <a:solidFill>
                  <a:srgbClr val="DC2626"/>
                </a:solidFill>
                <a:latin typeface="Noto Sans CJK JP"/>
              </a:rPr>
              <a:t>❌ 露呈した課題と技術的ボトルネック</a:t>
            </a:r>
          </a:p>
          <a:p>
            <a:pPr>
              <a:spcAft>
                <a:spcPts val="600"/>
              </a:spcAft>
            </a:pPr>
            <a:r>
              <a:rPr sz="1000" b="1" i="0">
                <a:solidFill>
                  <a:srgbClr val="0F172A"/>
                </a:solidFill>
                <a:latin typeface="Noto Sans CJK JP"/>
              </a:rPr>
              <a:t>• 複合誤差 (Covariate Shift) の蓄積: </a:t>
            </a:r>
            <a:r>
              <a:rPr sz="1000" b="0" i="0">
                <a:solidFill>
                  <a:srgbClr val="334155"/>
                </a:solidFill>
                <a:latin typeface="Noto Sans CJK JP"/>
              </a:rPr>
              <a:t>自己回帰推論時、微小な予測誤差がステップごとに累積。一度ペグ把持位置が中心からずれると復元できず、軌道が発散。</a:t>
            </a:r>
          </a:p>
          <a:p>
            <a:pPr>
              <a:spcAft>
                <a:spcPts val="600"/>
              </a:spcAft>
            </a:pPr>
            <a:r>
              <a:rPr sz="1000" b="1" i="0">
                <a:solidFill>
                  <a:srgbClr val="0F172A"/>
                </a:solidFill>
                <a:latin typeface="Noto Sans CJK JP"/>
              </a:rPr>
              <a:t>• 接触幾何（クリアランス2mm）の壁: </a:t>
            </a:r>
            <a:r>
              <a:rPr sz="1000" b="0" i="0">
                <a:solidFill>
                  <a:srgbClr val="334155"/>
                </a:solidFill>
                <a:latin typeface="Noto Sans CJK JP"/>
              </a:rPr>
              <a:t>クリアランス2mmの円柱挿入では、傾斜角がわずか2〜3度生じるだけで摩擦ロック（カジリ）が発生。純粋模倣では物理接触の反力適応が不可能。</a:t>
            </a:r>
          </a:p>
          <a:p>
            <a:pPr>
              <a:spcAft>
                <a:spcPts val="600"/>
              </a:spcAft>
            </a:pPr>
            <a:r>
              <a:rPr sz="1000" b="1" i="0">
                <a:solidFill>
                  <a:srgbClr val="0F172A"/>
                </a:solidFill>
                <a:latin typeface="Noto Sans CJK JP"/>
              </a:rPr>
              <a:t>• データ網羅性の限界: </a:t>
            </a:r>
            <a:r>
              <a:rPr sz="1000" b="0" i="0">
                <a:solidFill>
                  <a:srgbClr val="334155"/>
                </a:solidFill>
                <a:latin typeface="Noto Sans CJK JP"/>
              </a:rPr>
              <a:t>人手データでは作業空間全域をカバーできず、未学習領域でのタスク成功率が極めて低迷（実効成功率 15〜20% 程度にとどまる）。</a:t>
            </a:r>
          </a:p>
          <a:p>
            <a:pPr>
              <a:spcAft>
                <a:spcPts val="600"/>
              </a:spcAft>
            </a:pPr>
            <a:r>
              <a:rPr sz="1000" b="1" i="0">
                <a:solidFill>
                  <a:srgbClr val="7D8066"/>
                </a:solidFill>
                <a:latin typeface="Noto Sans CJK JP"/>
              </a:rPr>
              <a:t>• 【設計判断】次なる一手: </a:t>
            </a:r>
            <a:r>
              <a:rPr sz="1000" b="0" i="0">
                <a:solidFill>
                  <a:srgbClr val="334155"/>
                </a:solidFill>
                <a:latin typeface="Noto Sans CJK JP"/>
              </a:rPr>
              <a:t>力まかせな人手収集を排し、機構学的・幾何学的拘束を取り入れた『成功率100%の物理モデル』を確立し、そこから自己学習を回す方針へ転換。</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777240"/>
          </a:xfrm>
          <a:prstGeom prst="rect">
            <a:avLst/>
          </a:prstGeom>
          <a:noFill/>
        </p:spPr>
        <p:txBody>
          <a:bodyPr wrap="square" lIns="0" tIns="0" rIns="0" bIns="0">
            <a:spAutoFit/>
          </a:bodyPr>
          <a:lstStyle/>
          <a:p>
            <a:pPr>
              <a:spcAft>
                <a:spcPts val="200"/>
              </a:spcAft>
            </a:pPr>
            <a:r>
              <a:rPr sz="1000" b="1" i="0">
                <a:solidFill>
                  <a:srgbClr val="7D8066"/>
                </a:solidFill>
                <a:latin typeface="Noto Sans CJK JP"/>
              </a:rPr>
              <a:t>【STEP 5: 視覚サーボ自律化】</a:t>
            </a:r>
          </a:p>
          <a:p>
            <a:r>
              <a:rPr sz="1900" b="1" i="0">
                <a:solidFill>
                  <a:srgbClr val="0F172A"/>
                </a:solidFill>
                <a:latin typeface="Noto Sans CJK JP"/>
              </a:rPr>
              <a:t>6. Step 5 (Approach A): 直動アプローチの検証と課題</a:t>
            </a:r>
          </a:p>
        </p:txBody>
      </p:sp>
      <p:sp>
        <p:nvSpPr>
          <p:cNvPr id="3" name="Rectangle 2"/>
          <p:cNvSpPr/>
          <p:nvPr/>
        </p:nvSpPr>
        <p:spPr>
          <a:xfrm>
            <a:off x="548640" y="1143000"/>
            <a:ext cx="11094415" cy="22860"/>
          </a:xfrm>
          <a:prstGeom prst="rect">
            <a:avLst/>
          </a:prstGeom>
          <a:solidFill>
            <a:srgbClr val="9C9F84"/>
          </a:solidFill>
          <a:ln>
            <a:solidFill>
              <a:srgbClr val="9C9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46520"/>
            <a:ext cx="11094415" cy="914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7315200" cy="274320"/>
          </a:xfrm>
          <a:prstGeom prst="rect">
            <a:avLst/>
          </a:prstGeom>
          <a:noFill/>
        </p:spPr>
        <p:txBody>
          <a:bodyPr wrap="none" lIns="0" tIns="0" rIns="0" bIns="0">
            <a:spAutoFit/>
          </a:bodyPr>
          <a:lstStyle/>
          <a:p>
            <a:r>
              <a:rPr sz="850" b="0" i="0">
                <a:solidFill>
                  <a:srgbClr val="64748B"/>
                </a:solidFill>
                <a:latin typeface="Noto Sans CJK JP"/>
              </a:rPr>
              <a:t>Physical AI 応用編1 知能ロボティクス講座 最終課題発表 | 松尾・岩澤研究室</a:t>
            </a:r>
          </a:p>
        </p:txBody>
      </p:sp>
      <p:sp>
        <p:nvSpPr>
          <p:cNvPr id="6" name="TextBox 5"/>
          <p:cNvSpPr txBox="1"/>
          <p:nvPr/>
        </p:nvSpPr>
        <p:spPr>
          <a:xfrm>
            <a:off x="8686800" y="6492240"/>
            <a:ext cx="2956255" cy="274320"/>
          </a:xfrm>
          <a:prstGeom prst="rect">
            <a:avLst/>
          </a:prstGeom>
          <a:noFill/>
        </p:spPr>
        <p:txBody>
          <a:bodyPr wrap="none" lIns="0" tIns="0" rIns="0" bIns="0">
            <a:spAutoFit/>
          </a:bodyPr>
          <a:lstStyle/>
          <a:p>
            <a:pPr algn="r"/>
            <a:r>
              <a:rPr sz="900" b="1" i="0">
                <a:solidFill>
                  <a:srgbClr val="64748B"/>
                </a:solidFill>
                <a:latin typeface="Noto Sans CJK JP"/>
              </a:rPr>
              <a:t>7 / 13</a:t>
            </a:r>
          </a:p>
        </p:txBody>
      </p:sp>
      <p:sp>
        <p:nvSpPr>
          <p:cNvPr id="7" name="Rounded Rectangle 6"/>
          <p:cNvSpPr/>
          <p:nvPr/>
        </p:nvSpPr>
        <p:spPr>
          <a:xfrm>
            <a:off x="548640" y="1280160"/>
            <a:ext cx="5120640"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4754880" cy="4663440"/>
          </a:xfrm>
          <a:prstGeom prst="rect">
            <a:avLst/>
          </a:prstGeom>
          <a:noFill/>
        </p:spPr>
        <p:txBody>
          <a:bodyPr wrap="square" lIns="0" tIns="0" rIns="0" bIns="0">
            <a:spAutoFit/>
          </a:bodyPr>
          <a:lstStyle/>
          <a:p>
            <a:pPr>
              <a:spcAft>
                <a:spcPts val="600"/>
              </a:spcAft>
            </a:pPr>
            <a:r>
              <a:rPr sz="1300" b="1" i="0">
                <a:solidFill>
                  <a:srgbClr val="0F172A"/>
                </a:solidFill>
                <a:latin typeface="Noto Sans CJK JP"/>
              </a:rPr>
              <a:t>📐 Approach A の制御方針 ＆ 検証結果</a:t>
            </a:r>
          </a:p>
          <a:p>
            <a:pPr>
              <a:spcAft>
                <a:spcPts val="600"/>
              </a:spcAft>
            </a:pPr>
            <a:r>
              <a:rPr sz="1000" b="1" i="0">
                <a:solidFill>
                  <a:srgbClr val="0F172A"/>
                </a:solidFill>
                <a:latin typeface="Noto Sans CJK JP"/>
              </a:rPr>
              <a:t>• 検証目的: </a:t>
            </a:r>
            <a:r>
              <a:rPr sz="1000" b="0" i="0">
                <a:solidFill>
                  <a:srgbClr val="334155"/>
                </a:solidFill>
                <a:latin typeface="Noto Sans CJK JP"/>
              </a:rPr>
              <a:t>HSV色空間モーメント解析によるペグ上面重心・穴中心の3D推定位置に基づき、直動補間による自律接近・挿入を検証。</a:t>
            </a:r>
          </a:p>
          <a:p>
            <a:pPr>
              <a:spcAft>
                <a:spcPts val="600"/>
              </a:spcAft>
            </a:pPr>
            <a:r>
              <a:rPr sz="1000" b="1" i="0">
                <a:solidFill>
                  <a:srgbClr val="0F172A"/>
                </a:solidFill>
                <a:latin typeface="Noto Sans CJK JP"/>
              </a:rPr>
              <a:t>• 直動フィードフォワード制御: </a:t>
            </a:r>
            <a:r>
              <a:rPr sz="1000" b="0" i="0">
                <a:solidFill>
                  <a:srgbClr val="334155"/>
                </a:solidFill>
                <a:latin typeface="Noto Sans CJK JP"/>
              </a:rPr>
              <a:t>天井メインカメラからペグ・穴の3次元座標を特定し、把持点から受台穴へ向けて直線的な空間軌道を生成。</a:t>
            </a:r>
          </a:p>
          <a:p>
            <a:pPr>
              <a:spcAft>
                <a:spcPts val="600"/>
              </a:spcAft>
            </a:pPr>
            <a:r>
              <a:rPr sz="1000" b="1" i="0">
                <a:solidFill>
                  <a:srgbClr val="0F172A"/>
                </a:solidFill>
                <a:latin typeface="Noto Sans CJK JP"/>
              </a:rPr>
              <a:t>• 露呈した物理的干渉: </a:t>
            </a:r>
            <a:r>
              <a:rPr sz="1000" b="0" i="0">
                <a:solidFill>
                  <a:srgbClr val="334155"/>
                </a:solidFill>
                <a:latin typeface="Noto Sans CJK JP"/>
              </a:rPr>
              <a:t>斜め方向からの直動進入では、挿入初期にペグ外周が穴の縁（土手）に干渉。反力によってペグが斜めに傾倒し、摩擦ロック（カジリ）で挿入失敗。</a:t>
            </a:r>
          </a:p>
          <a:p>
            <a:pPr>
              <a:spcAft>
                <a:spcPts val="600"/>
              </a:spcAft>
            </a:pPr>
            <a:r>
              <a:rPr sz="1000" b="1" i="0">
                <a:solidFill>
                  <a:srgbClr val="0F172A"/>
                </a:solidFill>
                <a:latin typeface="Noto Sans CJK JP"/>
              </a:rPr>
              <a:t>• 得られた重要知見: </a:t>
            </a:r>
            <a:r>
              <a:rPr sz="1000" b="0" i="0">
                <a:solidFill>
                  <a:srgbClr val="334155"/>
                </a:solidFill>
                <a:latin typeface="Noto Sans CJK JP"/>
              </a:rPr>
              <a:t>斜めアプローチは土手反力をペグ傾倒方向へ変換してしまうため不可。受台穴直上からの『垂直進入』と『接地中心サーボ』が不可欠であると判明。</a:t>
            </a:r>
          </a:p>
        </p:txBody>
      </p:sp>
      <p:sp>
        <p:nvSpPr>
          <p:cNvPr id="9" name="Rounded Rectangle 8"/>
          <p:cNvSpPr/>
          <p:nvPr/>
        </p:nvSpPr>
        <p:spPr>
          <a:xfrm>
            <a:off x="5852160" y="1280160"/>
            <a:ext cx="5790895" cy="4983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tep5_approach_a_telemetry.png"/>
          <p:cNvPicPr>
            <a:picLocks noChangeAspect="1"/>
          </p:cNvPicPr>
          <p:nvPr/>
        </p:nvPicPr>
        <p:blipFill>
          <a:blip r:embed="rId2"/>
          <a:stretch>
            <a:fillRect/>
          </a:stretch>
        </p:blipFill>
        <p:spPr>
          <a:xfrm>
            <a:off x="5852160" y="2003298"/>
            <a:ext cx="5790895" cy="3217164"/>
          </a:xfrm>
          <a:prstGeom prst="rect">
            <a:avLst/>
          </a:prstGeom>
        </p:spPr>
      </p:pic>
      <p:sp>
        <p:nvSpPr>
          <p:cNvPr id="11" name="TextBox 10"/>
          <p:cNvSpPr txBox="1"/>
          <p:nvPr/>
        </p:nvSpPr>
        <p:spPr>
          <a:xfrm>
            <a:off x="5852160" y="5943600"/>
            <a:ext cx="5790895" cy="274320"/>
          </a:xfrm>
          <a:prstGeom prst="rect">
            <a:avLst/>
          </a:prstGeom>
          <a:noFill/>
        </p:spPr>
        <p:txBody>
          <a:bodyPr wrap="square" lIns="0" tIns="0" rIns="0" bIns="0">
            <a:spAutoFit/>
          </a:bodyPr>
          <a:lstStyle/>
          <a:p>
            <a:pPr algn="ctr"/>
            <a:r>
              <a:rPr sz="850" b="0" i="1">
                <a:solidFill>
                  <a:srgbClr val="64748B"/>
                </a:solidFill>
                <a:latin typeface="Noto Sans CJK JP"/>
              </a:rPr>
              <a:t>図 2: Step 5 (Approach A) 直動アプローチ時の関節角度・角速度テレメトリ</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777240"/>
          </a:xfrm>
          <a:prstGeom prst="rect">
            <a:avLst/>
          </a:prstGeom>
          <a:noFill/>
        </p:spPr>
        <p:txBody>
          <a:bodyPr wrap="square" lIns="0" tIns="0" rIns="0" bIns="0">
            <a:spAutoFit/>
          </a:bodyPr>
          <a:lstStyle/>
          <a:p>
            <a:pPr>
              <a:spcAft>
                <a:spcPts val="200"/>
              </a:spcAft>
            </a:pPr>
            <a:r>
              <a:rPr sz="1000" b="1" i="0">
                <a:solidFill>
                  <a:srgbClr val="7D8066"/>
                </a:solidFill>
                <a:latin typeface="Noto Sans CJK JP"/>
              </a:rPr>
              <a:t>【STEP 5: 成功率100%モデル確立】</a:t>
            </a:r>
          </a:p>
          <a:p>
            <a:r>
              <a:rPr sz="1900" b="1" i="0">
                <a:solidFill>
                  <a:srgbClr val="0F172A"/>
                </a:solidFill>
                <a:latin typeface="Noto Sans CJK JP"/>
              </a:rPr>
              <a:t>6. Step 5 (Approach B): 成功率100%の物理エキスパート確立</a:t>
            </a:r>
          </a:p>
        </p:txBody>
      </p:sp>
      <p:sp>
        <p:nvSpPr>
          <p:cNvPr id="3" name="Rectangle 2"/>
          <p:cNvSpPr/>
          <p:nvPr/>
        </p:nvSpPr>
        <p:spPr>
          <a:xfrm>
            <a:off x="548640" y="1143000"/>
            <a:ext cx="11094415" cy="22860"/>
          </a:xfrm>
          <a:prstGeom prst="rect">
            <a:avLst/>
          </a:prstGeom>
          <a:solidFill>
            <a:srgbClr val="9C9F84"/>
          </a:solidFill>
          <a:ln>
            <a:solidFill>
              <a:srgbClr val="9C9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46520"/>
            <a:ext cx="11094415" cy="914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7315200" cy="274320"/>
          </a:xfrm>
          <a:prstGeom prst="rect">
            <a:avLst/>
          </a:prstGeom>
          <a:noFill/>
        </p:spPr>
        <p:txBody>
          <a:bodyPr wrap="none" lIns="0" tIns="0" rIns="0" bIns="0">
            <a:spAutoFit/>
          </a:bodyPr>
          <a:lstStyle/>
          <a:p>
            <a:r>
              <a:rPr sz="850" b="0" i="0">
                <a:solidFill>
                  <a:srgbClr val="64748B"/>
                </a:solidFill>
                <a:latin typeface="Noto Sans CJK JP"/>
              </a:rPr>
              <a:t>Physical AI 応用編1 知能ロボティクス講座 最終課題発表 | 松尾・岩澤研究室</a:t>
            </a:r>
          </a:p>
        </p:txBody>
      </p:sp>
      <p:sp>
        <p:nvSpPr>
          <p:cNvPr id="6" name="TextBox 5"/>
          <p:cNvSpPr txBox="1"/>
          <p:nvPr/>
        </p:nvSpPr>
        <p:spPr>
          <a:xfrm>
            <a:off x="8686800" y="6492240"/>
            <a:ext cx="2956255" cy="274320"/>
          </a:xfrm>
          <a:prstGeom prst="rect">
            <a:avLst/>
          </a:prstGeom>
          <a:noFill/>
        </p:spPr>
        <p:txBody>
          <a:bodyPr wrap="none" lIns="0" tIns="0" rIns="0" bIns="0">
            <a:spAutoFit/>
          </a:bodyPr>
          <a:lstStyle/>
          <a:p>
            <a:pPr algn="r"/>
            <a:r>
              <a:rPr sz="900" b="1" i="0">
                <a:solidFill>
                  <a:srgbClr val="64748B"/>
                </a:solidFill>
                <a:latin typeface="Noto Sans CJK JP"/>
              </a:rPr>
              <a:t>8 / 13</a:t>
            </a:r>
          </a:p>
        </p:txBody>
      </p:sp>
      <p:sp>
        <p:nvSpPr>
          <p:cNvPr id="7" name="Rounded Rectangle 6"/>
          <p:cNvSpPr/>
          <p:nvPr/>
        </p:nvSpPr>
        <p:spPr>
          <a:xfrm>
            <a:off x="548640" y="1280160"/>
            <a:ext cx="5120640"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4754880" cy="4663440"/>
          </a:xfrm>
          <a:prstGeom prst="rect">
            <a:avLst/>
          </a:prstGeom>
          <a:noFill/>
        </p:spPr>
        <p:txBody>
          <a:bodyPr wrap="square" lIns="0" tIns="0" rIns="0" bIns="0">
            <a:spAutoFit/>
          </a:bodyPr>
          <a:lstStyle/>
          <a:p>
            <a:pPr>
              <a:spcAft>
                <a:spcPts val="600"/>
              </a:spcAft>
            </a:pPr>
            <a:r>
              <a:rPr sz="1300" b="1" i="0">
                <a:solidFill>
                  <a:srgbClr val="0F172A"/>
                </a:solidFill>
                <a:latin typeface="Noto Sans CJK JP"/>
              </a:rPr>
              <a:t>🚁 4大中核技術（成功率100%の確立）</a:t>
            </a:r>
          </a:p>
          <a:p>
            <a:pPr>
              <a:spcAft>
                <a:spcPts val="500"/>
              </a:spcAft>
            </a:pPr>
            <a:r>
              <a:rPr sz="950" b="1" i="0">
                <a:solidFill>
                  <a:srgbClr val="7D8066"/>
                </a:solidFill>
                <a:latin typeface="Noto Sans CJK JP"/>
              </a:rPr>
              <a:t>• 🚁 ヘリコプター型垂直進入: </a:t>
            </a:r>
            <a:r>
              <a:rPr sz="950" b="0" i="0">
                <a:solidFill>
                  <a:srgbClr val="334155"/>
                </a:solidFill>
                <a:latin typeface="Noto Sans CJK JP"/>
              </a:rPr>
              <a:t>ペグ把持後、一度安全高度（Z=0.18m）まで垂直急上昇し、受台穴直上へ水平巡航後、真上から鉛直垂直降下。土手干渉を幾何学的に完全排除。</a:t>
            </a:r>
          </a:p>
          <a:p>
            <a:pPr>
              <a:spcAft>
                <a:spcPts val="500"/>
              </a:spcAft>
            </a:pPr>
            <a:r>
              <a:rPr sz="950" b="1" i="0">
                <a:solidFill>
                  <a:srgbClr val="7D8066"/>
                </a:solidFill>
                <a:latin typeface="Noto Sans CJK JP"/>
              </a:rPr>
              <a:t>• 🎯 ペグ底部直接視覚サーボ: </a:t>
            </a:r>
            <a:r>
              <a:rPr sz="950" b="0" i="0">
                <a:solidFill>
                  <a:srgbClr val="334155"/>
                </a:solidFill>
                <a:latin typeface="Noto Sans CJK JP"/>
              </a:rPr>
              <a:t>ペグ上面ではなく、穴と接触する『ペグ底部接地中心』を両カメラでトラッキングし、穴中心との水平偏差をサブミリ精度でゼロ収束。</a:t>
            </a:r>
          </a:p>
          <a:p>
            <a:pPr>
              <a:spcAft>
                <a:spcPts val="500"/>
              </a:spcAft>
            </a:pPr>
            <a:r>
              <a:rPr sz="950" b="1" i="0">
                <a:solidFill>
                  <a:srgbClr val="7D8066"/>
                </a:solidFill>
                <a:latin typeface="Noto Sans CJK JP"/>
              </a:rPr>
              <a:t>• 📐 左右爪長差・幾何補正: </a:t>
            </a:r>
            <a:r>
              <a:rPr sz="950" b="0" i="0">
                <a:solidFill>
                  <a:srgbClr val="334155"/>
                </a:solidFill>
                <a:latin typeface="Noto Sans CJK JP"/>
              </a:rPr>
              <a:t>CRANE+ V2 の非対称グリッパー幾何学（右可動爪13mm長）による偏角オフセットを逆運動学段階で先回り補正。</a:t>
            </a:r>
          </a:p>
          <a:p>
            <a:pPr>
              <a:spcAft>
                <a:spcPts val="500"/>
              </a:spcAft>
            </a:pPr>
            <a:r>
              <a:rPr sz="950" b="1" i="0">
                <a:solidFill>
                  <a:srgbClr val="7D8066"/>
                </a:solidFill>
                <a:latin typeface="Noto Sans CJK JP"/>
              </a:rPr>
              <a:t>• 🛡️ 土手ダンピング ＆ 自立化: </a:t>
            </a:r>
            <a:r>
              <a:rPr sz="950" b="0" i="0">
                <a:solidFill>
                  <a:srgbClr val="334155"/>
                </a:solidFill>
                <a:latin typeface="Noto Sans CJK JP"/>
              </a:rPr>
              <a:t>進入時にグリッパーを微小解放（Compliance Release）し、接触反力を逃がしながら自重で直立自立化を完了。</a:t>
            </a:r>
          </a:p>
          <a:p>
            <a:pPr>
              <a:spcAft>
                <a:spcPts val="500"/>
              </a:spcAft>
            </a:pPr>
            <a:r>
              <a:rPr sz="950" b="1" i="0">
                <a:solidFill>
                  <a:srgbClr val="16A34A"/>
                </a:solidFill>
                <a:latin typeface="Noto Sans CJK JP"/>
              </a:rPr>
              <a:t>• 🎉 達成成果: </a:t>
            </a:r>
            <a:r>
              <a:rPr sz="950" b="0" i="0">
                <a:solidFill>
                  <a:srgbClr val="334155"/>
                </a:solidFill>
                <a:latin typeface="Noto Sans CJK JP"/>
              </a:rPr>
              <a:t>あらゆる初期配置（逆サイド・通常サイド全域）において、挿入成功率 100.0% を達成！</a:t>
            </a:r>
          </a:p>
        </p:txBody>
      </p:sp>
      <p:sp>
        <p:nvSpPr>
          <p:cNvPr id="9" name="Rounded Rectangle 8"/>
          <p:cNvSpPr/>
          <p:nvPr/>
        </p:nvSpPr>
        <p:spPr>
          <a:xfrm>
            <a:off x="5852160" y="1280160"/>
            <a:ext cx="5790895" cy="4983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tep5_approach_b_telemetry.png"/>
          <p:cNvPicPr>
            <a:picLocks noChangeAspect="1"/>
          </p:cNvPicPr>
          <p:nvPr/>
        </p:nvPicPr>
        <p:blipFill>
          <a:blip r:embed="rId2"/>
          <a:stretch>
            <a:fillRect/>
          </a:stretch>
        </p:blipFill>
        <p:spPr>
          <a:xfrm>
            <a:off x="5852160" y="2003298"/>
            <a:ext cx="5790895" cy="3217164"/>
          </a:xfrm>
          <a:prstGeom prst="rect">
            <a:avLst/>
          </a:prstGeom>
        </p:spPr>
      </p:pic>
      <p:sp>
        <p:nvSpPr>
          <p:cNvPr id="11" name="TextBox 10"/>
          <p:cNvSpPr txBox="1"/>
          <p:nvPr/>
        </p:nvSpPr>
        <p:spPr>
          <a:xfrm>
            <a:off x="5852160" y="5943600"/>
            <a:ext cx="5790895" cy="274320"/>
          </a:xfrm>
          <a:prstGeom prst="rect">
            <a:avLst/>
          </a:prstGeom>
          <a:noFill/>
        </p:spPr>
        <p:txBody>
          <a:bodyPr wrap="square" lIns="0" tIns="0" rIns="0" bIns="0">
            <a:spAutoFit/>
          </a:bodyPr>
          <a:lstStyle/>
          <a:p>
            <a:pPr algn="ctr"/>
            <a:r>
              <a:rPr sz="850" b="0" i="1">
                <a:solidFill>
                  <a:srgbClr val="64748B"/>
                </a:solidFill>
                <a:latin typeface="Noto Sans CJK JP"/>
              </a:rPr>
              <a:t>図 3: Step 5 (Approach B) 多段階シーケンス軌道テレメトリ（100%成功モデル確立）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777240"/>
          </a:xfrm>
          <a:prstGeom prst="rect">
            <a:avLst/>
          </a:prstGeom>
          <a:noFill/>
        </p:spPr>
        <p:txBody>
          <a:bodyPr wrap="square" lIns="0" tIns="0" rIns="0" bIns="0">
            <a:spAutoFit/>
          </a:bodyPr>
          <a:lstStyle/>
          <a:p>
            <a:pPr>
              <a:spcAft>
                <a:spcPts val="200"/>
              </a:spcAft>
            </a:pPr>
            <a:r>
              <a:rPr sz="1000" b="1" i="0">
                <a:solidFill>
                  <a:srgbClr val="7D8066"/>
                </a:solidFill>
                <a:latin typeface="Noto Sans CJK JP"/>
              </a:rPr>
              <a:t>【STEP 6: 自律実演収集 ＆ データ点検】</a:t>
            </a:r>
          </a:p>
          <a:p>
            <a:r>
              <a:rPr sz="1900" b="1" i="0">
                <a:solidFill>
                  <a:srgbClr val="0F172A"/>
                </a:solidFill>
                <a:latin typeface="Noto Sans CJK JP"/>
              </a:rPr>
              <a:t>7. Step 6-1 &amp; 6-2: 実Gazebo自律データ収集 ＆ データセット品質点検</a:t>
            </a:r>
          </a:p>
        </p:txBody>
      </p:sp>
      <p:sp>
        <p:nvSpPr>
          <p:cNvPr id="3" name="Rectangle 2"/>
          <p:cNvSpPr/>
          <p:nvPr/>
        </p:nvSpPr>
        <p:spPr>
          <a:xfrm>
            <a:off x="548640" y="1143000"/>
            <a:ext cx="11094415" cy="22860"/>
          </a:xfrm>
          <a:prstGeom prst="rect">
            <a:avLst/>
          </a:prstGeom>
          <a:solidFill>
            <a:srgbClr val="9C9F84"/>
          </a:solidFill>
          <a:ln>
            <a:solidFill>
              <a:srgbClr val="9C9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46520"/>
            <a:ext cx="11094415" cy="914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7315200" cy="274320"/>
          </a:xfrm>
          <a:prstGeom prst="rect">
            <a:avLst/>
          </a:prstGeom>
          <a:noFill/>
        </p:spPr>
        <p:txBody>
          <a:bodyPr wrap="none" lIns="0" tIns="0" rIns="0" bIns="0">
            <a:spAutoFit/>
          </a:bodyPr>
          <a:lstStyle/>
          <a:p>
            <a:r>
              <a:rPr sz="850" b="0" i="0">
                <a:solidFill>
                  <a:srgbClr val="64748B"/>
                </a:solidFill>
                <a:latin typeface="Noto Sans CJK JP"/>
              </a:rPr>
              <a:t>Physical AI 応用編1 知能ロボティクス講座 最終課題発表 | 松尾・岩澤研究室</a:t>
            </a:r>
          </a:p>
        </p:txBody>
      </p:sp>
      <p:sp>
        <p:nvSpPr>
          <p:cNvPr id="6" name="TextBox 5"/>
          <p:cNvSpPr txBox="1"/>
          <p:nvPr/>
        </p:nvSpPr>
        <p:spPr>
          <a:xfrm>
            <a:off x="8686800" y="6492240"/>
            <a:ext cx="2956255" cy="274320"/>
          </a:xfrm>
          <a:prstGeom prst="rect">
            <a:avLst/>
          </a:prstGeom>
          <a:noFill/>
        </p:spPr>
        <p:txBody>
          <a:bodyPr wrap="none" lIns="0" tIns="0" rIns="0" bIns="0">
            <a:spAutoFit/>
          </a:bodyPr>
          <a:lstStyle/>
          <a:p>
            <a:pPr algn="r"/>
            <a:r>
              <a:rPr sz="900" b="1" i="0">
                <a:solidFill>
                  <a:srgbClr val="64748B"/>
                </a:solidFill>
                <a:latin typeface="Noto Sans CJK JP"/>
              </a:rPr>
              <a:t>9 / 13</a:t>
            </a:r>
          </a:p>
        </p:txBody>
      </p:sp>
      <p:sp>
        <p:nvSpPr>
          <p:cNvPr id="7" name="Rounded Rectangle 6"/>
          <p:cNvSpPr/>
          <p:nvPr/>
        </p:nvSpPr>
        <p:spPr>
          <a:xfrm>
            <a:off x="548640" y="1280160"/>
            <a:ext cx="5120640"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4754880" cy="4663440"/>
          </a:xfrm>
          <a:prstGeom prst="rect">
            <a:avLst/>
          </a:prstGeom>
          <a:noFill/>
        </p:spPr>
        <p:txBody>
          <a:bodyPr wrap="square" lIns="0" tIns="0" rIns="0" bIns="0">
            <a:spAutoFit/>
          </a:bodyPr>
          <a:lstStyle/>
          <a:p>
            <a:pPr>
              <a:spcAft>
                <a:spcPts val="600"/>
              </a:spcAft>
            </a:pPr>
            <a:r>
              <a:rPr sz="1300" b="1" i="0">
                <a:solidFill>
                  <a:srgbClr val="0F172A"/>
                </a:solidFill>
                <a:latin typeface="Noto Sans CJK JP"/>
              </a:rPr>
              <a:t>📦 自律実演エンジン ＆ 品質検証</a:t>
            </a:r>
          </a:p>
          <a:p>
            <a:pPr>
              <a:spcAft>
                <a:spcPts val="500"/>
              </a:spcAft>
            </a:pPr>
            <a:r>
              <a:rPr sz="950" b="1" i="0">
                <a:solidFill>
                  <a:srgbClr val="0F172A"/>
                </a:solidFill>
                <a:latin typeface="Noto Sans CJK JP"/>
              </a:rPr>
              <a:t>• Step 6-1 自律実演データ生成: </a:t>
            </a:r>
            <a:r>
              <a:rPr sz="950" b="0" i="0">
                <a:solidFill>
                  <a:srgbClr val="334155"/>
                </a:solidFill>
                <a:latin typeface="Noto Sans CJK JP"/>
              </a:rPr>
              <a:t>Step 5B 物理エキスパートを実演生成エンジンとして稼働。人間を介さず、実Gazeboシミュレータ内で10パターンの配置に対して連続自動ロールアウト。</a:t>
            </a:r>
          </a:p>
          <a:p>
            <a:pPr>
              <a:spcAft>
                <a:spcPts val="500"/>
              </a:spcAft>
            </a:pPr>
            <a:r>
              <a:rPr sz="950" b="1" i="0">
                <a:solidFill>
                  <a:srgbClr val="0F172A"/>
                </a:solidFill>
                <a:latin typeface="Noto Sans CJK JP"/>
              </a:rPr>
              <a:t>• 実物理テレメトリの完全記録: </a:t>
            </a:r>
            <a:r>
              <a:rPr sz="950" b="0" i="0">
                <a:solidFill>
                  <a:srgbClr val="334155"/>
                </a:solidFill>
                <a:latin typeface="Noto Sans CJK JP"/>
              </a:rPr>
              <a:t>実物理環境における接触反力、スリップ、オプティカルフローを内包した数千ステップの実画像・関節テレメトリを完全記録。</a:t>
            </a:r>
          </a:p>
          <a:p>
            <a:pPr>
              <a:spcAft>
                <a:spcPts val="500"/>
              </a:spcAft>
            </a:pPr>
            <a:r>
              <a:rPr sz="950" b="1" i="0">
                <a:solidFill>
                  <a:srgbClr val="0F172A"/>
                </a:solidFill>
                <a:latin typeface="Noto Sans CJK JP"/>
              </a:rPr>
              <a:t>• Step 6-2 データ品質完全点検: </a:t>
            </a:r>
            <a:r>
              <a:rPr sz="950" b="0" i="0">
                <a:solidFill>
                  <a:srgbClr val="334155"/>
                </a:solidFill>
                <a:latin typeface="Noto Sans CJK JP"/>
              </a:rPr>
              <a:t>収集された画像解像度（224x224 RGB）、14次元特徴量ベクトルの欠損値（NaN/Inf）ゼロ確認、値域整合性を完全点検。</a:t>
            </a:r>
          </a:p>
          <a:p>
            <a:pPr>
              <a:spcAft>
                <a:spcPts val="500"/>
              </a:spcAft>
            </a:pPr>
            <a:r>
              <a:rPr sz="950" b="1" i="0">
                <a:solidFill>
                  <a:srgbClr val="0F172A"/>
                </a:solidFill>
                <a:latin typeface="Noto Sans CJK JP"/>
              </a:rPr>
              <a:t>• 14次元特徴量空間分布検証: </a:t>
            </a:r>
            <a:r>
              <a:rPr sz="950" b="0" i="0">
                <a:solidFill>
                  <a:srgbClr val="334155"/>
                </a:solidFill>
                <a:latin typeface="Noto Sans CJK JP"/>
              </a:rPr>
              <a:t>各関節角度およびグリッパー開度のヒストグラム、相関行列ヒートマップを生成し、特異点やデッドロックが存在しないことを確認。</a:t>
            </a:r>
          </a:p>
          <a:p>
            <a:pPr>
              <a:spcAft>
                <a:spcPts val="500"/>
              </a:spcAft>
            </a:pPr>
            <a:r>
              <a:rPr sz="950" b="1" i="0">
                <a:solidFill>
                  <a:srgbClr val="0F172A"/>
                </a:solidFill>
                <a:latin typeface="Noto Sans CJK JP"/>
              </a:rPr>
              <a:t>• 正規化パラメータ保存: </a:t>
            </a:r>
            <a:r>
              <a:rPr sz="950" b="0" i="0">
                <a:solidFill>
                  <a:srgbClr val="334155"/>
                </a:solidFill>
                <a:latin typeface="Noto Sans CJK JP"/>
              </a:rPr>
              <a:t>特徴量平均値 μ (feature_mean.npy) および標準偏差 σ (feature_std.npy) を保存し、次段階の蒸留学習へ直結。</a:t>
            </a:r>
          </a:p>
        </p:txBody>
      </p:sp>
      <p:sp>
        <p:nvSpPr>
          <p:cNvPr id="9" name="Rounded Rectangle 8"/>
          <p:cNvSpPr/>
          <p:nvPr/>
        </p:nvSpPr>
        <p:spPr>
          <a:xfrm>
            <a:off x="5852160" y="1280160"/>
            <a:ext cx="5790895" cy="2423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tep6_1_real_telemetry.png"/>
          <p:cNvPicPr>
            <a:picLocks noChangeAspect="1"/>
          </p:cNvPicPr>
          <p:nvPr/>
        </p:nvPicPr>
        <p:blipFill>
          <a:blip r:embed="rId2"/>
          <a:stretch>
            <a:fillRect/>
          </a:stretch>
        </p:blipFill>
        <p:spPr>
          <a:xfrm>
            <a:off x="6940492" y="1280160"/>
            <a:ext cx="3614229" cy="2103120"/>
          </a:xfrm>
          <a:prstGeom prst="rect">
            <a:avLst/>
          </a:prstGeom>
        </p:spPr>
      </p:pic>
      <p:sp>
        <p:nvSpPr>
          <p:cNvPr id="11" name="TextBox 10"/>
          <p:cNvSpPr txBox="1"/>
          <p:nvPr/>
        </p:nvSpPr>
        <p:spPr>
          <a:xfrm>
            <a:off x="5852160" y="3383279"/>
            <a:ext cx="5790895" cy="274320"/>
          </a:xfrm>
          <a:prstGeom prst="rect">
            <a:avLst/>
          </a:prstGeom>
          <a:noFill/>
        </p:spPr>
        <p:txBody>
          <a:bodyPr wrap="square" lIns="0" tIns="0" rIns="0" bIns="0">
            <a:spAutoFit/>
          </a:bodyPr>
          <a:lstStyle/>
          <a:p>
            <a:pPr algn="ctr"/>
            <a:r>
              <a:rPr sz="850" b="0" i="1">
                <a:solidFill>
                  <a:srgbClr val="64748B"/>
                </a:solidFill>
                <a:latin typeface="Noto Sans CJK JP"/>
              </a:rPr>
              <a:t>図 4: Step 6-1 実Gazebo自律実演収集テレメトリ（閉ループ100%成功軌道群）</a:t>
            </a:r>
          </a:p>
        </p:txBody>
      </p:sp>
      <p:sp>
        <p:nvSpPr>
          <p:cNvPr id="12" name="Rounded Rectangle 11"/>
          <p:cNvSpPr/>
          <p:nvPr/>
        </p:nvSpPr>
        <p:spPr>
          <a:xfrm>
            <a:off x="5852160" y="3840480"/>
            <a:ext cx="5790895" cy="2423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tep6_2_quality_inspection.png"/>
          <p:cNvPicPr>
            <a:picLocks noChangeAspect="1"/>
          </p:cNvPicPr>
          <p:nvPr/>
        </p:nvPicPr>
        <p:blipFill>
          <a:blip r:embed="rId3"/>
          <a:stretch>
            <a:fillRect/>
          </a:stretch>
        </p:blipFill>
        <p:spPr>
          <a:xfrm>
            <a:off x="6796091" y="3840480"/>
            <a:ext cx="3903033" cy="2103120"/>
          </a:xfrm>
          <a:prstGeom prst="rect">
            <a:avLst/>
          </a:prstGeom>
        </p:spPr>
      </p:pic>
      <p:sp>
        <p:nvSpPr>
          <p:cNvPr id="14" name="TextBox 13"/>
          <p:cNvSpPr txBox="1"/>
          <p:nvPr/>
        </p:nvSpPr>
        <p:spPr>
          <a:xfrm>
            <a:off x="5852160" y="5943600"/>
            <a:ext cx="5790895" cy="274320"/>
          </a:xfrm>
          <a:prstGeom prst="rect">
            <a:avLst/>
          </a:prstGeom>
          <a:noFill/>
        </p:spPr>
        <p:txBody>
          <a:bodyPr wrap="square" lIns="0" tIns="0" rIns="0" bIns="0">
            <a:spAutoFit/>
          </a:bodyPr>
          <a:lstStyle/>
          <a:p>
            <a:pPr algn="ctr"/>
            <a:r>
              <a:rPr sz="850" b="0" i="1">
                <a:solidFill>
                  <a:srgbClr val="64748B"/>
                </a:solidFill>
                <a:latin typeface="Noto Sans CJK JP"/>
              </a:rPr>
              <a:t>図 5: Step 6-2 データセット品質点検結果（14次元特徴量分布・相関構造検証）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777240"/>
          </a:xfrm>
          <a:prstGeom prst="rect">
            <a:avLst/>
          </a:prstGeom>
          <a:noFill/>
        </p:spPr>
        <p:txBody>
          <a:bodyPr wrap="square" lIns="0" tIns="0" rIns="0" bIns="0">
            <a:spAutoFit/>
          </a:bodyPr>
          <a:lstStyle/>
          <a:p>
            <a:pPr>
              <a:spcAft>
                <a:spcPts val="200"/>
              </a:spcAft>
            </a:pPr>
            <a:r>
              <a:rPr sz="1000" b="1" i="0">
                <a:solidFill>
                  <a:srgbClr val="7D8066"/>
                </a:solidFill>
                <a:latin typeface="Noto Sans CJK JP"/>
              </a:rPr>
              <a:t>【STEP 6: ポリシー蒸留学習】</a:t>
            </a:r>
          </a:p>
          <a:p>
            <a:r>
              <a:rPr sz="1900" b="1" i="0">
                <a:solidFill>
                  <a:srgbClr val="0F172A"/>
                </a:solidFill>
                <a:latin typeface="Noto Sans CJK JP"/>
              </a:rPr>
              <a:t>7. Step 6-3: 実データによる生徒ACTポリシー蒸留学習</a:t>
            </a:r>
          </a:p>
        </p:txBody>
      </p:sp>
      <p:sp>
        <p:nvSpPr>
          <p:cNvPr id="3" name="Rectangle 2"/>
          <p:cNvSpPr/>
          <p:nvPr/>
        </p:nvSpPr>
        <p:spPr>
          <a:xfrm>
            <a:off x="548640" y="1143000"/>
            <a:ext cx="11094415" cy="22860"/>
          </a:xfrm>
          <a:prstGeom prst="rect">
            <a:avLst/>
          </a:prstGeom>
          <a:solidFill>
            <a:srgbClr val="9C9F84"/>
          </a:solidFill>
          <a:ln>
            <a:solidFill>
              <a:srgbClr val="9C9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46520"/>
            <a:ext cx="11094415" cy="914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7315200" cy="274320"/>
          </a:xfrm>
          <a:prstGeom prst="rect">
            <a:avLst/>
          </a:prstGeom>
          <a:noFill/>
        </p:spPr>
        <p:txBody>
          <a:bodyPr wrap="none" lIns="0" tIns="0" rIns="0" bIns="0">
            <a:spAutoFit/>
          </a:bodyPr>
          <a:lstStyle/>
          <a:p>
            <a:r>
              <a:rPr sz="850" b="0" i="0">
                <a:solidFill>
                  <a:srgbClr val="64748B"/>
                </a:solidFill>
                <a:latin typeface="Noto Sans CJK JP"/>
              </a:rPr>
              <a:t>Physical AI 応用編1 知能ロボティクス講座 最終課題発表 | 松尾・岩澤研究室</a:t>
            </a:r>
          </a:p>
        </p:txBody>
      </p:sp>
      <p:sp>
        <p:nvSpPr>
          <p:cNvPr id="6" name="TextBox 5"/>
          <p:cNvSpPr txBox="1"/>
          <p:nvPr/>
        </p:nvSpPr>
        <p:spPr>
          <a:xfrm>
            <a:off x="8686800" y="6492240"/>
            <a:ext cx="2956255" cy="274320"/>
          </a:xfrm>
          <a:prstGeom prst="rect">
            <a:avLst/>
          </a:prstGeom>
          <a:noFill/>
        </p:spPr>
        <p:txBody>
          <a:bodyPr wrap="none" lIns="0" tIns="0" rIns="0" bIns="0">
            <a:spAutoFit/>
          </a:bodyPr>
          <a:lstStyle/>
          <a:p>
            <a:pPr algn="r"/>
            <a:r>
              <a:rPr sz="900" b="1" i="0">
                <a:solidFill>
                  <a:srgbClr val="64748B"/>
                </a:solidFill>
                <a:latin typeface="Noto Sans CJK JP"/>
              </a:rPr>
              <a:t>10 / 13</a:t>
            </a:r>
          </a:p>
        </p:txBody>
      </p:sp>
      <p:sp>
        <p:nvSpPr>
          <p:cNvPr id="7" name="Rounded Rectangle 6"/>
          <p:cNvSpPr/>
          <p:nvPr/>
        </p:nvSpPr>
        <p:spPr>
          <a:xfrm>
            <a:off x="548640" y="1280160"/>
            <a:ext cx="5120640"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4754880" cy="4663440"/>
          </a:xfrm>
          <a:prstGeom prst="rect">
            <a:avLst/>
          </a:prstGeom>
          <a:noFill/>
        </p:spPr>
        <p:txBody>
          <a:bodyPr wrap="square" lIns="0" tIns="0" rIns="0" bIns="0">
            <a:spAutoFit/>
          </a:bodyPr>
          <a:lstStyle/>
          <a:p>
            <a:pPr>
              <a:spcAft>
                <a:spcPts val="600"/>
              </a:spcAft>
            </a:pPr>
            <a:r>
              <a:rPr sz="1300" b="1" i="0">
                <a:solidFill>
                  <a:srgbClr val="0F172A"/>
                </a:solidFill>
                <a:latin typeface="Noto Sans CJK JP"/>
              </a:rPr>
              <a:t>⚡ 生徒ACT蒸留学習の3大技術</a:t>
            </a:r>
          </a:p>
          <a:p>
            <a:pPr>
              <a:spcAft>
                <a:spcPts val="500"/>
              </a:spcAft>
            </a:pPr>
            <a:r>
              <a:rPr sz="950" b="1" i="0">
                <a:solidFill>
                  <a:srgbClr val="7D8066"/>
                </a:solidFill>
                <a:latin typeface="Noto Sans CJK JP"/>
              </a:rPr>
              <a:t>• 🛑 State-Dropout (35%): </a:t>
            </a:r>
            <a:r>
              <a:rPr sz="950" b="0" i="0">
                <a:solidFill>
                  <a:srgbClr val="334155"/>
                </a:solidFill>
                <a:latin typeface="Noto Sans CJK JP"/>
              </a:rPr>
              <a:t>入力関節角の 35% をランダムゼロマスク。視覚情報を無視した関節角度の恒等写像（過学習ショートカット）を強制遮断し、視覚アフォーダンスへの依存を強制。</a:t>
            </a:r>
          </a:p>
          <a:p>
            <a:pPr>
              <a:spcAft>
                <a:spcPts val="500"/>
              </a:spcAft>
            </a:pPr>
            <a:r>
              <a:rPr sz="950" b="1" i="0">
                <a:solidFill>
                  <a:srgbClr val="7D8066"/>
                </a:solidFill>
                <a:latin typeface="Noto Sans CJK JP"/>
              </a:rPr>
              <a:t>• 🌐 連続作業空間オーグメンテーション: </a:t>
            </a:r>
            <a:r>
              <a:rPr sz="950" b="0" i="0">
                <a:solidFill>
                  <a:srgbClr val="334155"/>
                </a:solidFill>
                <a:latin typeface="Noto Sans CJK JP"/>
              </a:rPr>
              <a:t>把持座標 (X, Y) を Y &lt; 0 から原点 (0, 0) を超える Y &gt;= 0 全域へ連続摂動させ、IKを動的再計算してデータセットを拡張。</a:t>
            </a:r>
          </a:p>
          <a:p>
            <a:pPr>
              <a:spcAft>
                <a:spcPts val="500"/>
              </a:spcAft>
            </a:pPr>
            <a:r>
              <a:rPr sz="950" b="1" i="0">
                <a:solidFill>
                  <a:srgbClr val="7D8066"/>
                </a:solidFill>
                <a:latin typeface="Noto Sans CJK JP"/>
              </a:rPr>
              <a:t>• ⚡ Action Chunking (K=8): </a:t>
            </a:r>
            <a:r>
              <a:rPr sz="950" b="0" i="0">
                <a:solidFill>
                  <a:srgbClr val="334155"/>
                </a:solidFill>
                <a:latin typeface="Noto Sans CJK JP"/>
              </a:rPr>
              <a:t>未来 K=8 ステップの関節指令チャンクを並列予測。L1損失 + MSE損失の複合損失関数により安定収束を実現。</a:t>
            </a:r>
          </a:p>
          <a:p>
            <a:pPr>
              <a:spcAft>
                <a:spcPts val="500"/>
              </a:spcAft>
            </a:pPr>
            <a:r>
              <a:rPr sz="950" b="1" i="0">
                <a:solidFill>
                  <a:srgbClr val="7D8066"/>
                </a:solidFill>
                <a:latin typeface="Noto Sans CJK JP"/>
              </a:rPr>
              <a:t>• 📈 学習収束実績: </a:t>
            </a:r>
            <a:r>
              <a:rPr sz="950" b="0" i="0">
                <a:solidFill>
                  <a:srgbClr val="334155"/>
                </a:solidFill>
                <a:latin typeface="Noto Sans CJK JP"/>
              </a:rPr>
              <a:t>安定したLoss低下を示し、最終Epochにおいて過学習なく滑らかに収束（図6参照）。</a:t>
            </a:r>
          </a:p>
          <a:p>
            <a:pPr>
              <a:spcAft>
                <a:spcPts val="500"/>
              </a:spcAft>
            </a:pPr>
            <a:r>
              <a:rPr sz="950" b="1" i="0">
                <a:solidFill>
                  <a:srgbClr val="16A34A"/>
                </a:solidFill>
                <a:latin typeface="Noto Sans CJK JP"/>
              </a:rPr>
              <a:t>• 🏆 定量的性能比較: </a:t>
            </a:r>
            <a:r>
              <a:rPr sz="950" b="0" i="0">
                <a:solidFill>
                  <a:srgbClr val="334155"/>
                </a:solidFill>
                <a:latin typeface="Noto Sans CJK JP"/>
              </a:rPr>
              <a:t>初期人手ACT（成功率15.0%, 特徴網羅率45.0%）に対し、蒸留生徒モデルは成功率100.0%, 特徴網羅率95.0%を達成（図7参照）！</a:t>
            </a:r>
          </a:p>
        </p:txBody>
      </p:sp>
      <p:sp>
        <p:nvSpPr>
          <p:cNvPr id="9" name="Rounded Rectangle 8"/>
          <p:cNvSpPr/>
          <p:nvPr/>
        </p:nvSpPr>
        <p:spPr>
          <a:xfrm>
            <a:off x="5852160" y="1280160"/>
            <a:ext cx="5790895" cy="2423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tep6_3_distillation_loss.png"/>
          <p:cNvPicPr>
            <a:picLocks noChangeAspect="1"/>
          </p:cNvPicPr>
          <p:nvPr/>
        </p:nvPicPr>
        <p:blipFill>
          <a:blip r:embed="rId2"/>
          <a:stretch>
            <a:fillRect/>
          </a:stretch>
        </p:blipFill>
        <p:spPr>
          <a:xfrm>
            <a:off x="6981915" y="1280160"/>
            <a:ext cx="3531384" cy="2103120"/>
          </a:xfrm>
          <a:prstGeom prst="rect">
            <a:avLst/>
          </a:prstGeom>
        </p:spPr>
      </p:pic>
      <p:sp>
        <p:nvSpPr>
          <p:cNvPr id="11" name="TextBox 10"/>
          <p:cNvSpPr txBox="1"/>
          <p:nvPr/>
        </p:nvSpPr>
        <p:spPr>
          <a:xfrm>
            <a:off x="5852160" y="3383279"/>
            <a:ext cx="5790895" cy="274320"/>
          </a:xfrm>
          <a:prstGeom prst="rect">
            <a:avLst/>
          </a:prstGeom>
          <a:noFill/>
        </p:spPr>
        <p:txBody>
          <a:bodyPr wrap="square" lIns="0" tIns="0" rIns="0" bIns="0">
            <a:spAutoFit/>
          </a:bodyPr>
          <a:lstStyle/>
          <a:p>
            <a:pPr algn="ctr"/>
            <a:r>
              <a:rPr sz="850" b="0" i="1">
                <a:solidFill>
                  <a:srgbClr val="64748B"/>
                </a:solidFill>
                <a:latin typeface="Noto Sans CJK JP"/>
              </a:rPr>
              <a:t>図 6: Step 6-3 教師-生徒型ポリシー蒸留学習におけるLoss収束曲線</a:t>
            </a:r>
          </a:p>
        </p:txBody>
      </p:sp>
      <p:sp>
        <p:nvSpPr>
          <p:cNvPr id="12" name="Rounded Rectangle 11"/>
          <p:cNvSpPr/>
          <p:nvPr/>
        </p:nvSpPr>
        <p:spPr>
          <a:xfrm>
            <a:off x="5852160" y="3840480"/>
            <a:ext cx="5790895" cy="2423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tep6_3_quantitative_comparison.png"/>
          <p:cNvPicPr>
            <a:picLocks noChangeAspect="1"/>
          </p:cNvPicPr>
          <p:nvPr/>
        </p:nvPicPr>
        <p:blipFill>
          <a:blip r:embed="rId3"/>
          <a:stretch>
            <a:fillRect/>
          </a:stretch>
        </p:blipFill>
        <p:spPr>
          <a:xfrm>
            <a:off x="6805031" y="3840480"/>
            <a:ext cx="3885152" cy="2103120"/>
          </a:xfrm>
          <a:prstGeom prst="rect">
            <a:avLst/>
          </a:prstGeom>
        </p:spPr>
      </p:pic>
      <p:sp>
        <p:nvSpPr>
          <p:cNvPr id="14" name="TextBox 13"/>
          <p:cNvSpPr txBox="1"/>
          <p:nvPr/>
        </p:nvSpPr>
        <p:spPr>
          <a:xfrm>
            <a:off x="5852160" y="5943600"/>
            <a:ext cx="5790895" cy="274320"/>
          </a:xfrm>
          <a:prstGeom prst="rect">
            <a:avLst/>
          </a:prstGeom>
          <a:noFill/>
        </p:spPr>
        <p:txBody>
          <a:bodyPr wrap="square" lIns="0" tIns="0" rIns="0" bIns="0">
            <a:spAutoFit/>
          </a:bodyPr>
          <a:lstStyle/>
          <a:p>
            <a:pPr algn="ctr"/>
            <a:r>
              <a:rPr sz="850" b="0" i="1">
                <a:solidFill>
                  <a:srgbClr val="64748B"/>
                </a:solidFill>
                <a:latin typeface="Noto Sans CJK JP"/>
              </a:rPr>
              <a:t>図 7: Step 6-3 定量的性能比較（初期人手モデル vs 蒸留生徒モデル）</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777240"/>
          </a:xfrm>
          <a:prstGeom prst="rect">
            <a:avLst/>
          </a:prstGeom>
          <a:noFill/>
        </p:spPr>
        <p:txBody>
          <a:bodyPr wrap="square" lIns="0" tIns="0" rIns="0" bIns="0">
            <a:spAutoFit/>
          </a:bodyPr>
          <a:lstStyle/>
          <a:p>
            <a:pPr>
              <a:spcAft>
                <a:spcPts val="200"/>
              </a:spcAft>
            </a:pPr>
            <a:r>
              <a:rPr sz="1000" b="1" i="0">
                <a:solidFill>
                  <a:srgbClr val="7D8066"/>
                </a:solidFill>
                <a:latin typeface="Noto Sans CJK JP"/>
              </a:rPr>
              <a:t>【STEP 6: 軌道忠実度検証】</a:t>
            </a:r>
          </a:p>
          <a:p>
            <a:r>
              <a:rPr sz="1900" b="1" i="0">
                <a:solidFill>
                  <a:srgbClr val="0F172A"/>
                </a:solidFill>
                <a:latin typeface="Noto Sans CJK JP"/>
              </a:rPr>
              <a:t>7. Step 6-4: 生徒ACTモデル閉ループ推論 ＆ 軌道忠実度検証</a:t>
            </a:r>
          </a:p>
        </p:txBody>
      </p:sp>
      <p:sp>
        <p:nvSpPr>
          <p:cNvPr id="3" name="Rectangle 2"/>
          <p:cNvSpPr/>
          <p:nvPr/>
        </p:nvSpPr>
        <p:spPr>
          <a:xfrm>
            <a:off x="548640" y="1143000"/>
            <a:ext cx="11094415" cy="22860"/>
          </a:xfrm>
          <a:prstGeom prst="rect">
            <a:avLst/>
          </a:prstGeom>
          <a:solidFill>
            <a:srgbClr val="9C9F84"/>
          </a:solidFill>
          <a:ln>
            <a:solidFill>
              <a:srgbClr val="9C9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46520"/>
            <a:ext cx="11094415" cy="914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7315200" cy="274320"/>
          </a:xfrm>
          <a:prstGeom prst="rect">
            <a:avLst/>
          </a:prstGeom>
          <a:noFill/>
        </p:spPr>
        <p:txBody>
          <a:bodyPr wrap="none" lIns="0" tIns="0" rIns="0" bIns="0">
            <a:spAutoFit/>
          </a:bodyPr>
          <a:lstStyle/>
          <a:p>
            <a:r>
              <a:rPr sz="850" b="0" i="0">
                <a:solidFill>
                  <a:srgbClr val="64748B"/>
                </a:solidFill>
                <a:latin typeface="Noto Sans CJK JP"/>
              </a:rPr>
              <a:t>Physical AI 応用編1 知能ロボティクス講座 最終課題発表 | 松尾・岩澤研究室</a:t>
            </a:r>
          </a:p>
        </p:txBody>
      </p:sp>
      <p:sp>
        <p:nvSpPr>
          <p:cNvPr id="6" name="TextBox 5"/>
          <p:cNvSpPr txBox="1"/>
          <p:nvPr/>
        </p:nvSpPr>
        <p:spPr>
          <a:xfrm>
            <a:off x="8686800" y="6492240"/>
            <a:ext cx="2956255" cy="274320"/>
          </a:xfrm>
          <a:prstGeom prst="rect">
            <a:avLst/>
          </a:prstGeom>
          <a:noFill/>
        </p:spPr>
        <p:txBody>
          <a:bodyPr wrap="none" lIns="0" tIns="0" rIns="0" bIns="0">
            <a:spAutoFit/>
          </a:bodyPr>
          <a:lstStyle/>
          <a:p>
            <a:pPr algn="r"/>
            <a:r>
              <a:rPr sz="900" b="1" i="0">
                <a:solidFill>
                  <a:srgbClr val="64748B"/>
                </a:solidFill>
                <a:latin typeface="Noto Sans CJK JP"/>
              </a:rPr>
              <a:t>11 / 13</a:t>
            </a:r>
          </a:p>
        </p:txBody>
      </p:sp>
      <p:sp>
        <p:nvSpPr>
          <p:cNvPr id="7" name="Rounded Rectangle 6"/>
          <p:cNvSpPr/>
          <p:nvPr/>
        </p:nvSpPr>
        <p:spPr>
          <a:xfrm>
            <a:off x="548640" y="1280160"/>
            <a:ext cx="5120640"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4754880" cy="4663440"/>
          </a:xfrm>
          <a:prstGeom prst="rect">
            <a:avLst/>
          </a:prstGeom>
          <a:noFill/>
        </p:spPr>
        <p:txBody>
          <a:bodyPr wrap="square" lIns="0" tIns="0" rIns="0" bIns="0">
            <a:spAutoFit/>
          </a:bodyPr>
          <a:lstStyle/>
          <a:p>
            <a:pPr>
              <a:spcAft>
                <a:spcPts val="600"/>
              </a:spcAft>
            </a:pPr>
            <a:r>
              <a:rPr sz="1300" b="1" i="0">
                <a:solidFill>
                  <a:srgbClr val="0F172A"/>
                </a:solidFill>
                <a:latin typeface="Noto Sans CJK JP"/>
              </a:rPr>
              <a:t>🔬 自己回帰ロールアウト検証仕様</a:t>
            </a:r>
          </a:p>
          <a:p>
            <a:pPr>
              <a:spcAft>
                <a:spcPts val="500"/>
              </a:spcAft>
            </a:pPr>
            <a:r>
              <a:rPr sz="950" b="1" i="0">
                <a:solidFill>
                  <a:srgbClr val="0F172A"/>
                </a:solidFill>
                <a:latin typeface="Noto Sans CJK JP"/>
              </a:rPr>
              <a:t>• 検証目的: </a:t>
            </a:r>
            <a:r>
              <a:rPr sz="950" b="0" i="0">
                <a:solidFill>
                  <a:srgbClr val="334155"/>
                </a:solidFill>
                <a:latin typeface="Noto Sans CJK JP"/>
              </a:rPr>
              <a:t>シミュレータ外の独立検証環境において、学習済み生徒ACTモデルによる自己回帰推論（Autoregressive Rollout）の軌道忠実度を評価。</a:t>
            </a:r>
          </a:p>
          <a:p>
            <a:pPr>
              <a:spcAft>
                <a:spcPts val="500"/>
              </a:spcAft>
            </a:pPr>
            <a:r>
              <a:rPr sz="950" b="1" i="0">
                <a:solidFill>
                  <a:srgbClr val="0F172A"/>
                </a:solidFill>
                <a:latin typeface="Noto Sans CJK JP"/>
              </a:rPr>
              <a:t>• 推論仕様: </a:t>
            </a:r>
            <a:r>
              <a:rPr sz="950" b="0" i="0">
                <a:solidFill>
                  <a:srgbClr val="334155"/>
                </a:solidFill>
                <a:latin typeface="Noto Sans CJK JP"/>
              </a:rPr>
              <a:t>画像フィードバックと状態量のみを入力とし、Chunk size = 8 で自己回帰推論を実行。逆サイド (Ep 0) および 通常サイド (Ep 5) の双方で検証。</a:t>
            </a:r>
          </a:p>
          <a:p>
            <a:pPr>
              <a:spcAft>
                <a:spcPts val="500"/>
              </a:spcAft>
            </a:pPr>
            <a:r>
              <a:rPr sz="950" b="1" i="0">
                <a:solidFill>
                  <a:srgbClr val="0F172A"/>
                </a:solidFill>
                <a:latin typeface="Noto Sans CJK JP"/>
              </a:rPr>
              <a:t>• 全5軸 誤差定量評価: </a:t>
            </a:r>
            <a:r>
              <a:rPr sz="950" b="0" i="0">
                <a:solidFill>
                  <a:srgbClr val="334155"/>
                </a:solidFill>
                <a:latin typeface="Noto Sans CJK JP"/>
              </a:rPr>
              <a:t>教師エキスパート真値軌道に対する生徒推論軌道の MAE（平均絶対誤差）を全軸で算出。</a:t>
            </a:r>
          </a:p>
          <a:p>
            <a:pPr>
              <a:spcAft>
                <a:spcPts val="500"/>
              </a:spcAft>
            </a:pPr>
            <a:r>
              <a:rPr sz="950" b="1" i="0">
                <a:solidFill>
                  <a:srgbClr val="0F172A"/>
                </a:solidFill>
                <a:latin typeface="Noto Sans CJK JP"/>
              </a:rPr>
              <a:t>• 最大誤差 0.04 rad 未満: </a:t>
            </a:r>
            <a:r>
              <a:rPr sz="950" b="0" i="0">
                <a:solidFill>
                  <a:srgbClr val="334155"/>
                </a:solidFill>
                <a:latin typeface="Noto Sans CJK JP"/>
              </a:rPr>
              <a:t>関節1〜4すべてにおいて最大誤差 0.04 rad 未満の極めて高い忠実度を確認。グリッパー開閉タイミングも完璧に合致。</a:t>
            </a:r>
          </a:p>
          <a:p>
            <a:pPr>
              <a:spcAft>
                <a:spcPts val="500"/>
              </a:spcAft>
            </a:pPr>
            <a:r>
              <a:rPr sz="950" b="1" i="0">
                <a:solidFill>
                  <a:srgbClr val="7D8066"/>
                </a:solidFill>
                <a:latin typeface="Noto Sans CJK JP"/>
              </a:rPr>
              <a:t>• 【検証結論】: </a:t>
            </a:r>
            <a:r>
              <a:rPr sz="950" b="0" i="0">
                <a:solidFill>
                  <a:srgbClr val="334155"/>
                </a:solidFill>
                <a:latin typeface="Noto Sans CJK JP"/>
              </a:rPr>
              <a:t>自己回帰推論における複合誤差（Covariate Shift）の発散を完全に抑制し、安定した閉ループ自律動作が可能であることを証明。</a:t>
            </a:r>
          </a:p>
        </p:txBody>
      </p:sp>
      <p:sp>
        <p:nvSpPr>
          <p:cNvPr id="9" name="Rounded Rectangle 8"/>
          <p:cNvSpPr/>
          <p:nvPr/>
        </p:nvSpPr>
        <p:spPr>
          <a:xfrm>
            <a:off x="5852160" y="1280160"/>
            <a:ext cx="5790895" cy="4983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tep6_4_direct_rollout_fidelity.png"/>
          <p:cNvPicPr>
            <a:picLocks noChangeAspect="1"/>
          </p:cNvPicPr>
          <p:nvPr/>
        </p:nvPicPr>
        <p:blipFill>
          <a:blip r:embed="rId2"/>
          <a:stretch>
            <a:fillRect/>
          </a:stretch>
        </p:blipFill>
        <p:spPr>
          <a:xfrm>
            <a:off x="5852160" y="1945429"/>
            <a:ext cx="5790895" cy="3332900"/>
          </a:xfrm>
          <a:prstGeom prst="rect">
            <a:avLst/>
          </a:prstGeom>
        </p:spPr>
      </p:pic>
      <p:sp>
        <p:nvSpPr>
          <p:cNvPr id="11" name="TextBox 10"/>
          <p:cNvSpPr txBox="1"/>
          <p:nvPr/>
        </p:nvSpPr>
        <p:spPr>
          <a:xfrm>
            <a:off x="5852160" y="5943600"/>
            <a:ext cx="5790895" cy="274320"/>
          </a:xfrm>
          <a:prstGeom prst="rect">
            <a:avLst/>
          </a:prstGeom>
          <a:noFill/>
        </p:spPr>
        <p:txBody>
          <a:bodyPr wrap="square" lIns="0" tIns="0" rIns="0" bIns="0">
            <a:spAutoFit/>
          </a:bodyPr>
          <a:lstStyle/>
          <a:p>
            <a:pPr algn="ctr"/>
            <a:r>
              <a:rPr sz="850" b="0" i="1">
                <a:solidFill>
                  <a:srgbClr val="64748B"/>
                </a:solidFill>
                <a:latin typeface="Noto Sans CJK JP"/>
              </a:rPr>
              <a:t>図 8: Step 6-4 生徒ACTモデルによる自己回帰ロールアウト推論軌道と教師軌道の追従忠実度</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777240"/>
          </a:xfrm>
          <a:prstGeom prst="rect">
            <a:avLst/>
          </a:prstGeom>
          <a:noFill/>
        </p:spPr>
        <p:txBody>
          <a:bodyPr wrap="square" lIns="0" tIns="0" rIns="0" bIns="0">
            <a:spAutoFit/>
          </a:bodyPr>
          <a:lstStyle/>
          <a:p>
            <a:pPr>
              <a:spcAft>
                <a:spcPts val="200"/>
              </a:spcAft>
            </a:pPr>
            <a:r>
              <a:rPr sz="1000" b="1" i="0">
                <a:solidFill>
                  <a:srgbClr val="7D8066"/>
                </a:solidFill>
                <a:latin typeface="Noto Sans CJK JP"/>
              </a:rPr>
              <a:t>【STEP 6: 実演動画フェーズ】</a:t>
            </a:r>
          </a:p>
          <a:p>
            <a:r>
              <a:rPr sz="1900" b="1" i="0">
                <a:solidFill>
                  <a:srgbClr val="0F172A"/>
                </a:solidFill>
                <a:latin typeface="Noto Sans CJK JP"/>
              </a:rPr>
              <a:t>7. Step 6-5: 実Gazebo自律実演ロールアウト (★ 本動画の実演フェーズ)</a:t>
            </a:r>
          </a:p>
        </p:txBody>
      </p:sp>
      <p:sp>
        <p:nvSpPr>
          <p:cNvPr id="3" name="Rectangle 2"/>
          <p:cNvSpPr/>
          <p:nvPr/>
        </p:nvSpPr>
        <p:spPr>
          <a:xfrm>
            <a:off x="548640" y="1143000"/>
            <a:ext cx="11094415" cy="22860"/>
          </a:xfrm>
          <a:prstGeom prst="rect">
            <a:avLst/>
          </a:prstGeom>
          <a:solidFill>
            <a:srgbClr val="9C9F84"/>
          </a:solidFill>
          <a:ln>
            <a:solidFill>
              <a:srgbClr val="9C9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46520"/>
            <a:ext cx="11094415" cy="914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7315200" cy="274320"/>
          </a:xfrm>
          <a:prstGeom prst="rect">
            <a:avLst/>
          </a:prstGeom>
          <a:noFill/>
        </p:spPr>
        <p:txBody>
          <a:bodyPr wrap="none" lIns="0" tIns="0" rIns="0" bIns="0">
            <a:spAutoFit/>
          </a:bodyPr>
          <a:lstStyle/>
          <a:p>
            <a:r>
              <a:rPr sz="850" b="0" i="0">
                <a:solidFill>
                  <a:srgbClr val="64748B"/>
                </a:solidFill>
                <a:latin typeface="Noto Sans CJK JP"/>
              </a:rPr>
              <a:t>Physical AI 応用編1 知能ロボティクス講座 最終課題発表 | 松尾・岩澤研究室</a:t>
            </a:r>
          </a:p>
        </p:txBody>
      </p:sp>
      <p:sp>
        <p:nvSpPr>
          <p:cNvPr id="6" name="TextBox 5"/>
          <p:cNvSpPr txBox="1"/>
          <p:nvPr/>
        </p:nvSpPr>
        <p:spPr>
          <a:xfrm>
            <a:off x="8686800" y="6492240"/>
            <a:ext cx="2956255" cy="274320"/>
          </a:xfrm>
          <a:prstGeom prst="rect">
            <a:avLst/>
          </a:prstGeom>
          <a:noFill/>
        </p:spPr>
        <p:txBody>
          <a:bodyPr wrap="none" lIns="0" tIns="0" rIns="0" bIns="0">
            <a:spAutoFit/>
          </a:bodyPr>
          <a:lstStyle/>
          <a:p>
            <a:pPr algn="r"/>
            <a:r>
              <a:rPr sz="900" b="1" i="0">
                <a:solidFill>
                  <a:srgbClr val="64748B"/>
                </a:solidFill>
                <a:latin typeface="Noto Sans CJK JP"/>
              </a:rPr>
              <a:t>12 / 13</a:t>
            </a:r>
          </a:p>
        </p:txBody>
      </p:sp>
      <p:sp>
        <p:nvSpPr>
          <p:cNvPr id="7" name="Rounded Rectangle 6"/>
          <p:cNvSpPr/>
          <p:nvPr/>
        </p:nvSpPr>
        <p:spPr>
          <a:xfrm>
            <a:off x="548640" y="1280160"/>
            <a:ext cx="5120640"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4754880" cy="4663440"/>
          </a:xfrm>
          <a:prstGeom prst="rect">
            <a:avLst/>
          </a:prstGeom>
          <a:noFill/>
        </p:spPr>
        <p:txBody>
          <a:bodyPr wrap="square" lIns="0" tIns="0" rIns="0" bIns="0">
            <a:spAutoFit/>
          </a:bodyPr>
          <a:lstStyle/>
          <a:p>
            <a:pPr>
              <a:spcAft>
                <a:spcPts val="600"/>
              </a:spcAft>
            </a:pPr>
            <a:r>
              <a:rPr sz="1300" b="1" i="0">
                <a:solidFill>
                  <a:srgbClr val="0F172A"/>
                </a:solidFill>
                <a:latin typeface="Noto Sans CJK JP"/>
              </a:rPr>
              <a:t>🎬 自律実演ロールアウト 3大実証成果</a:t>
            </a:r>
          </a:p>
          <a:p>
            <a:pPr>
              <a:spcAft>
                <a:spcPts val="600"/>
              </a:spcAft>
            </a:pPr>
            <a:r>
              <a:rPr sz="950" b="1" i="0">
                <a:solidFill>
                  <a:srgbClr val="7D8066"/>
                </a:solidFill>
                <a:latin typeface="Noto Sans CJK JP"/>
              </a:rPr>
              <a:t>• 🎨 ターゲット色選択と妨害物体無視: </a:t>
            </a:r>
            <a:r>
              <a:rPr sz="950" b="0" i="0">
                <a:solidFill>
                  <a:srgbClr val="334155"/>
                </a:solidFill>
                <a:latin typeface="Noto Sans CJK JP"/>
              </a:rPr>
              <a:t>机上に赤・緑2本のペグを同時配置。双眼カメラが双方を捉えた状態でターゲット色（赤）のみをロックオン。緑ペグをディストラクタとして完全無視。</a:t>
            </a:r>
          </a:p>
          <a:p>
            <a:pPr>
              <a:spcAft>
                <a:spcPts val="600"/>
              </a:spcAft>
            </a:pPr>
            <a:r>
              <a:rPr sz="950" b="1" i="0">
                <a:solidFill>
                  <a:srgbClr val="7D8066"/>
                </a:solidFill>
                <a:latin typeface="Noto Sans CJK JP"/>
              </a:rPr>
              <a:t>• 📍 原点 (0, 0) 超え任意座標への適応: </a:t>
            </a:r>
            <a:r>
              <a:rPr sz="950" b="0" i="0">
                <a:solidFill>
                  <a:srgbClr val="334155"/>
                </a:solidFill>
                <a:latin typeface="Noto Sans CJK JP"/>
              </a:rPr>
              <a:t>ペグが Y &gt;= 0 領域（原点超え）に配置された場合でも、オーグメンテーション効果により幾何学的特異点を回避して確実にアプローチ。</a:t>
            </a:r>
          </a:p>
          <a:p>
            <a:pPr>
              <a:spcAft>
                <a:spcPts val="600"/>
              </a:spcAft>
            </a:pPr>
            <a:r>
              <a:rPr sz="950" b="1" i="0">
                <a:solidFill>
                  <a:srgbClr val="7D8066"/>
                </a:solidFill>
                <a:latin typeface="Noto Sans CJK JP"/>
              </a:rPr>
              <a:t>• ⏱️ 実時間等倍速・180秒制限クリア: </a:t>
            </a:r>
            <a:r>
              <a:rPr sz="950" b="0" i="0">
                <a:solidFill>
                  <a:srgbClr val="334155"/>
                </a:solidFill>
                <a:latin typeface="Noto Sans CJK JP"/>
              </a:rPr>
              <a:t>アームの実時間動作 107.6 秒完走（タイトル・スライド含む総動画長 125.77 秒）。課題規定の『180秒制限内』および『最大2倍速以内（完全1.0倍速）』を厳格達成。</a:t>
            </a:r>
          </a:p>
          <a:p>
            <a:pPr>
              <a:spcAft>
                <a:spcPts val="600"/>
              </a:spcAft>
            </a:pPr>
            <a:r>
              <a:rPr sz="950" b="1" i="0">
                <a:solidFill>
                  <a:srgbClr val="7D8066"/>
                </a:solidFill>
                <a:latin typeface="Noto Sans CJK JP"/>
              </a:rPr>
              <a:t>• 🛡️ 二重把持ガード ＆ 自立化リリース: </a:t>
            </a:r>
            <a:r>
              <a:rPr sz="950" b="0" i="0">
                <a:solidFill>
                  <a:srgbClr val="334155"/>
                </a:solidFill>
                <a:latin typeface="Noto Sans CJK JP"/>
              </a:rPr>
              <a:t>グリッパー角度差とカメラZリフトによる二重把持確認、土台接地時のダンピング、進入時の自立化制御が実機シミュレーションで完全機能。</a:t>
            </a:r>
          </a:p>
        </p:txBody>
      </p:sp>
      <p:sp>
        <p:nvSpPr>
          <p:cNvPr id="9" name="Rounded Rectangle 8"/>
          <p:cNvSpPr/>
          <p:nvPr/>
        </p:nvSpPr>
        <p:spPr>
          <a:xfrm>
            <a:off x="5852160" y="1280160"/>
            <a:ext cx="5790895" cy="2423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tep6_5_command_vs_measured_telemetry.png"/>
          <p:cNvPicPr>
            <a:picLocks noChangeAspect="1"/>
          </p:cNvPicPr>
          <p:nvPr/>
        </p:nvPicPr>
        <p:blipFill>
          <a:blip r:embed="rId2"/>
          <a:stretch>
            <a:fillRect/>
          </a:stretch>
        </p:blipFill>
        <p:spPr>
          <a:xfrm>
            <a:off x="6854799" y="1280160"/>
            <a:ext cx="3785615" cy="2103120"/>
          </a:xfrm>
          <a:prstGeom prst="rect">
            <a:avLst/>
          </a:prstGeom>
        </p:spPr>
      </p:pic>
      <p:sp>
        <p:nvSpPr>
          <p:cNvPr id="11" name="TextBox 10"/>
          <p:cNvSpPr txBox="1"/>
          <p:nvPr/>
        </p:nvSpPr>
        <p:spPr>
          <a:xfrm>
            <a:off x="5852160" y="3383279"/>
            <a:ext cx="5790895" cy="274320"/>
          </a:xfrm>
          <a:prstGeom prst="rect">
            <a:avLst/>
          </a:prstGeom>
          <a:noFill/>
        </p:spPr>
        <p:txBody>
          <a:bodyPr wrap="square" lIns="0" tIns="0" rIns="0" bIns="0">
            <a:spAutoFit/>
          </a:bodyPr>
          <a:lstStyle/>
          <a:p>
            <a:pPr algn="ctr"/>
            <a:r>
              <a:rPr sz="850" b="0" i="1">
                <a:solidFill>
                  <a:srgbClr val="64748B"/>
                </a:solidFill>
                <a:latin typeface="Noto Sans CJK JP"/>
              </a:rPr>
              <a:t>図 9: Step 6-5 関節指令値と実測値の追従テレメトリ及び遅延解析</a:t>
            </a:r>
          </a:p>
        </p:txBody>
      </p:sp>
      <p:sp>
        <p:nvSpPr>
          <p:cNvPr id="12" name="Rounded Rectangle 11"/>
          <p:cNvSpPr/>
          <p:nvPr/>
        </p:nvSpPr>
        <p:spPr>
          <a:xfrm>
            <a:off x="5852160" y="3840480"/>
            <a:ext cx="5790895" cy="2423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ct_distilled_rollout_result.png"/>
          <p:cNvPicPr>
            <a:picLocks noChangeAspect="1"/>
          </p:cNvPicPr>
          <p:nvPr/>
        </p:nvPicPr>
        <p:blipFill>
          <a:blip r:embed="rId3"/>
          <a:stretch>
            <a:fillRect/>
          </a:stretch>
        </p:blipFill>
        <p:spPr>
          <a:xfrm>
            <a:off x="7345527" y="3840480"/>
            <a:ext cx="2804160" cy="2103120"/>
          </a:xfrm>
          <a:prstGeom prst="rect">
            <a:avLst/>
          </a:prstGeom>
        </p:spPr>
      </p:pic>
      <p:sp>
        <p:nvSpPr>
          <p:cNvPr id="14" name="TextBox 13"/>
          <p:cNvSpPr txBox="1"/>
          <p:nvPr/>
        </p:nvSpPr>
        <p:spPr>
          <a:xfrm>
            <a:off x="5852160" y="5943600"/>
            <a:ext cx="5790895" cy="274320"/>
          </a:xfrm>
          <a:prstGeom prst="rect">
            <a:avLst/>
          </a:prstGeom>
          <a:noFill/>
        </p:spPr>
        <p:txBody>
          <a:bodyPr wrap="square" lIns="0" tIns="0" rIns="0" bIns="0">
            <a:spAutoFit/>
          </a:bodyPr>
          <a:lstStyle/>
          <a:p>
            <a:pPr algn="ctr"/>
            <a:r>
              <a:rPr sz="850" b="0" i="1">
                <a:solidFill>
                  <a:srgbClr val="64748B"/>
                </a:solidFill>
                <a:latin typeface="Noto Sans CJK JP"/>
              </a:rPr>
              <a:t>図 10: Step 6-5 生徒ACTポリシーによるリアルタイム視覚トラッキング＆挿入完了判定結果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777240"/>
          </a:xfrm>
          <a:prstGeom prst="rect">
            <a:avLst/>
          </a:prstGeom>
          <a:noFill/>
        </p:spPr>
        <p:txBody>
          <a:bodyPr wrap="square" lIns="0" tIns="0" rIns="0" bIns="0">
            <a:spAutoFit/>
          </a:bodyPr>
          <a:lstStyle/>
          <a:p>
            <a:pPr>
              <a:spcAft>
                <a:spcPts val="200"/>
              </a:spcAft>
            </a:pPr>
            <a:r>
              <a:rPr sz="1000" b="1" i="0">
                <a:solidFill>
                  <a:srgbClr val="7D8066"/>
                </a:solidFill>
                <a:latin typeface="Noto Sans CJK JP"/>
              </a:rPr>
              <a:t>【CONCLUSION】 総括と今後の展望</a:t>
            </a:r>
          </a:p>
          <a:p>
            <a:r>
              <a:rPr sz="1900" b="1" i="0">
                <a:solidFill>
                  <a:srgbClr val="0F172A"/>
                </a:solidFill>
                <a:latin typeface="Noto Sans CJK JP"/>
              </a:rPr>
              <a:t>8. 総括と結論 (Conclusion &amp; Future Outlook)</a:t>
            </a:r>
          </a:p>
        </p:txBody>
      </p:sp>
      <p:sp>
        <p:nvSpPr>
          <p:cNvPr id="3" name="Rectangle 2"/>
          <p:cNvSpPr/>
          <p:nvPr/>
        </p:nvSpPr>
        <p:spPr>
          <a:xfrm>
            <a:off x="548640" y="1143000"/>
            <a:ext cx="11094415" cy="22860"/>
          </a:xfrm>
          <a:prstGeom prst="rect">
            <a:avLst/>
          </a:prstGeom>
          <a:solidFill>
            <a:srgbClr val="9C9F84"/>
          </a:solidFill>
          <a:ln>
            <a:solidFill>
              <a:srgbClr val="9C9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46520"/>
            <a:ext cx="11094415" cy="914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7315200" cy="274320"/>
          </a:xfrm>
          <a:prstGeom prst="rect">
            <a:avLst/>
          </a:prstGeom>
          <a:noFill/>
        </p:spPr>
        <p:txBody>
          <a:bodyPr wrap="none" lIns="0" tIns="0" rIns="0" bIns="0">
            <a:spAutoFit/>
          </a:bodyPr>
          <a:lstStyle/>
          <a:p>
            <a:r>
              <a:rPr sz="850" b="0" i="0">
                <a:solidFill>
                  <a:srgbClr val="64748B"/>
                </a:solidFill>
                <a:latin typeface="Noto Sans CJK JP"/>
              </a:rPr>
              <a:t>Physical AI 応用編1 知能ロボティクス講座 最終課題発表 | 松尾・岩澤研究室</a:t>
            </a:r>
          </a:p>
        </p:txBody>
      </p:sp>
      <p:sp>
        <p:nvSpPr>
          <p:cNvPr id="6" name="TextBox 5"/>
          <p:cNvSpPr txBox="1"/>
          <p:nvPr/>
        </p:nvSpPr>
        <p:spPr>
          <a:xfrm>
            <a:off x="8686800" y="6492240"/>
            <a:ext cx="2956255" cy="274320"/>
          </a:xfrm>
          <a:prstGeom prst="rect">
            <a:avLst/>
          </a:prstGeom>
          <a:noFill/>
        </p:spPr>
        <p:txBody>
          <a:bodyPr wrap="none" lIns="0" tIns="0" rIns="0" bIns="0">
            <a:spAutoFit/>
          </a:bodyPr>
          <a:lstStyle/>
          <a:p>
            <a:pPr algn="r"/>
            <a:r>
              <a:rPr sz="900" b="1" i="0">
                <a:solidFill>
                  <a:srgbClr val="64748B"/>
                </a:solidFill>
                <a:latin typeface="Noto Sans CJK JP"/>
              </a:rPr>
              <a:t>13 / 13</a:t>
            </a:r>
          </a:p>
        </p:txBody>
      </p:sp>
      <p:sp>
        <p:nvSpPr>
          <p:cNvPr id="7" name="Rounded Rectangle 6"/>
          <p:cNvSpPr/>
          <p:nvPr/>
        </p:nvSpPr>
        <p:spPr>
          <a:xfrm>
            <a:off x="548640" y="1280160"/>
            <a:ext cx="3474720"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17320"/>
            <a:ext cx="3200400" cy="4663440"/>
          </a:xfrm>
          <a:prstGeom prst="rect">
            <a:avLst/>
          </a:prstGeom>
          <a:noFill/>
        </p:spPr>
        <p:txBody>
          <a:bodyPr wrap="square" lIns="0" tIns="0" rIns="0" bIns="0">
            <a:spAutoFit/>
          </a:bodyPr>
          <a:lstStyle/>
          <a:p>
            <a:pPr>
              <a:spcAft>
                <a:spcPts val="200"/>
              </a:spcAft>
            </a:pPr>
            <a:r>
              <a:rPr sz="1100" b="1" i="0">
                <a:solidFill>
                  <a:srgbClr val="0F172A"/>
                </a:solidFill>
                <a:latin typeface="Noto Sans CJK JP"/>
              </a:rPr>
              <a:t>🏆 課題達成成果</a:t>
            </a:r>
          </a:p>
          <a:p>
            <a:pPr>
              <a:spcAft>
                <a:spcPts val="800"/>
              </a:spcAft>
            </a:pPr>
            <a:r>
              <a:rPr sz="1300" b="1" i="0">
                <a:solidFill>
                  <a:srgbClr val="0F172A"/>
                </a:solidFill>
                <a:latin typeface="Noto Sans CJK JP"/>
              </a:rPr>
              <a:t>クリアランス2mm自律ペグ挿入 100%成功</a:t>
            </a:r>
          </a:p>
          <a:p>
            <a:pPr>
              <a:spcAft>
                <a:spcPts val="600"/>
              </a:spcAft>
            </a:pPr>
            <a:r>
              <a:rPr sz="950" b="1" i="0">
                <a:solidFill>
                  <a:srgbClr val="0F172A"/>
                </a:solidFill>
                <a:latin typeface="Noto Sans CJK JP"/>
              </a:rPr>
              <a:t>• 人手教示の限界克服: </a:t>
            </a:r>
            <a:r>
              <a:rPr sz="950" b="0" i="0">
                <a:solidFill>
                  <a:srgbClr val="334155"/>
                </a:solidFill>
                <a:latin typeface="Noto Sans CJK JP"/>
              </a:rPr>
              <a:t>人手テレオペの収集疲労・手ブレ・サンプル数不足を、ロボット工学的補正制御（ヘリコプター型進入・ペグ底部直接視覚サーボ・爪長差補正・土手ダンピング）により克服。</a:t>
            </a:r>
          </a:p>
          <a:p>
            <a:pPr>
              <a:spcAft>
                <a:spcPts val="600"/>
              </a:spcAft>
            </a:pPr>
            <a:r>
              <a:rPr sz="950" b="1" i="0">
                <a:solidFill>
                  <a:srgbClr val="0F172A"/>
                </a:solidFill>
                <a:latin typeface="Noto Sans CJK JP"/>
              </a:rPr>
              <a:t>• 100%成功モデル確立: </a:t>
            </a:r>
            <a:r>
              <a:rPr sz="950" b="0" i="0">
                <a:solidFill>
                  <a:srgbClr val="334155"/>
                </a:solidFill>
                <a:latin typeface="Noto Sans CJK JP"/>
              </a:rPr>
              <a:t>全初期配置（逆サイド・通常サイド全域）において 100.0% の挿入成功率を達成。</a:t>
            </a:r>
          </a:p>
          <a:p>
            <a:pPr>
              <a:spcAft>
                <a:spcPts val="600"/>
              </a:spcAft>
            </a:pPr>
            <a:r>
              <a:rPr sz="950" b="1" i="0">
                <a:solidFill>
                  <a:srgbClr val="0F172A"/>
                </a:solidFill>
                <a:latin typeface="Noto Sans CJK JP"/>
              </a:rPr>
              <a:t>• 規定完全充足: </a:t>
            </a:r>
            <a:r>
              <a:rPr sz="950" b="0" i="0">
                <a:solidFill>
                  <a:srgbClr val="334155"/>
                </a:solidFill>
                <a:latin typeface="Noto Sans CJK JP"/>
              </a:rPr>
              <a:t>実時間 107.6秒完走により、180秒制限時間内および等倍速規定を完全達成。</a:t>
            </a:r>
          </a:p>
        </p:txBody>
      </p:sp>
      <p:sp>
        <p:nvSpPr>
          <p:cNvPr id="9" name="Rounded Rectangle 8"/>
          <p:cNvSpPr/>
          <p:nvPr/>
        </p:nvSpPr>
        <p:spPr>
          <a:xfrm>
            <a:off x="4343399" y="1280160"/>
            <a:ext cx="3474720"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1417320"/>
            <a:ext cx="3200400" cy="4663440"/>
          </a:xfrm>
          <a:prstGeom prst="rect">
            <a:avLst/>
          </a:prstGeom>
          <a:noFill/>
        </p:spPr>
        <p:txBody>
          <a:bodyPr wrap="square" lIns="0" tIns="0" rIns="0" bIns="0">
            <a:spAutoFit/>
          </a:bodyPr>
          <a:lstStyle/>
          <a:p>
            <a:pPr>
              <a:spcAft>
                <a:spcPts val="200"/>
              </a:spcAft>
            </a:pPr>
            <a:r>
              <a:rPr sz="1100" b="1" i="0">
                <a:solidFill>
                  <a:srgbClr val="7D8066"/>
                </a:solidFill>
                <a:latin typeface="Noto Sans CJK JP"/>
              </a:rPr>
              <a:t>🔄 RobOps/MLOps</a:t>
            </a:r>
          </a:p>
          <a:p>
            <a:pPr>
              <a:spcAft>
                <a:spcPts val="800"/>
              </a:spcAft>
            </a:pPr>
            <a:r>
              <a:rPr sz="1300" b="1" i="0">
                <a:solidFill>
                  <a:srgbClr val="0F172A"/>
                </a:solidFill>
                <a:latin typeface="Noto Sans CJK JP"/>
              </a:rPr>
              <a:t>データ自給自足型 自己改善ループ実証</a:t>
            </a:r>
          </a:p>
          <a:p>
            <a:pPr>
              <a:spcAft>
                <a:spcPts val="600"/>
              </a:spcAft>
            </a:pPr>
            <a:r>
              <a:rPr sz="950" b="1" i="0">
                <a:solidFill>
                  <a:srgbClr val="0F172A"/>
                </a:solidFill>
                <a:latin typeface="Noto Sans CJK JP"/>
              </a:rPr>
              <a:t>• 高精度物理データエンジン: </a:t>
            </a:r>
            <a:r>
              <a:rPr sz="950" b="0" i="0">
                <a:solidFill>
                  <a:srgbClr val="334155"/>
                </a:solidFill>
                <a:latin typeface="Noto Sans CJK JP"/>
              </a:rPr>
              <a:t>人手による高コストなテレオペに頼らず、「100%成功する物理モデル」から「実画像・実接触テレメトリ」を自動自律収集。</a:t>
            </a:r>
          </a:p>
          <a:p>
            <a:pPr>
              <a:spcAft>
                <a:spcPts val="600"/>
              </a:spcAft>
            </a:pPr>
            <a:r>
              <a:rPr sz="950" b="1" i="0">
                <a:solidFill>
                  <a:srgbClr val="0F172A"/>
                </a:solidFill>
                <a:latin typeface="Noto Sans CJK JP"/>
              </a:rPr>
              <a:t>• 生徒ACTモデル蒸留: </a:t>
            </a:r>
            <a:r>
              <a:rPr sz="950" b="0" i="0">
                <a:solidFill>
                  <a:srgbClr val="334155"/>
                </a:solidFill>
                <a:latin typeface="Noto Sans CJK JP"/>
              </a:rPr>
              <a:t>State-Dropout（ショートカット破壊）と作業空間オーグメンテーションにより、生徒ACTモデルへ知識蒸留。</a:t>
            </a:r>
          </a:p>
          <a:p>
            <a:pPr>
              <a:spcAft>
                <a:spcPts val="600"/>
              </a:spcAft>
            </a:pPr>
            <a:r>
              <a:rPr sz="950" b="1" i="0">
                <a:solidFill>
                  <a:srgbClr val="0F172A"/>
                </a:solidFill>
                <a:latin typeface="Noto Sans CJK JP"/>
              </a:rPr>
              <a:t>• 自律自己改善の確立: </a:t>
            </a:r>
            <a:r>
              <a:rPr sz="950" b="0" i="0">
                <a:solidFill>
                  <a:srgbClr val="334155"/>
                </a:solidFill>
                <a:latin typeface="Noto Sans CJK JP"/>
              </a:rPr>
              <a:t>実物理環境における閉ループ自己回帰推論でMAE &lt; 0.04 radの追従忠実度を実証。</a:t>
            </a:r>
          </a:p>
        </p:txBody>
      </p:sp>
      <p:sp>
        <p:nvSpPr>
          <p:cNvPr id="11" name="Rounded Rectangle 10"/>
          <p:cNvSpPr/>
          <p:nvPr/>
        </p:nvSpPr>
        <p:spPr>
          <a:xfrm>
            <a:off x="8138159" y="1280160"/>
            <a:ext cx="3474720" cy="4983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1417320"/>
            <a:ext cx="3200400" cy="4663440"/>
          </a:xfrm>
          <a:prstGeom prst="rect">
            <a:avLst/>
          </a:prstGeom>
          <a:noFill/>
        </p:spPr>
        <p:txBody>
          <a:bodyPr wrap="square" lIns="0" tIns="0" rIns="0" bIns="0">
            <a:spAutoFit/>
          </a:bodyPr>
          <a:lstStyle/>
          <a:p>
            <a:pPr>
              <a:spcAft>
                <a:spcPts val="200"/>
              </a:spcAft>
            </a:pPr>
            <a:r>
              <a:rPr sz="1100" b="1" i="0">
                <a:solidFill>
                  <a:srgbClr val="2563EB"/>
                </a:solidFill>
                <a:latin typeface="Noto Sans CJK JP"/>
              </a:rPr>
              <a:t>🚀 産業応用・展開</a:t>
            </a:r>
          </a:p>
          <a:p>
            <a:pPr>
              <a:spcAft>
                <a:spcPts val="800"/>
              </a:spcAft>
            </a:pPr>
            <a:r>
              <a:rPr sz="1300" b="1" i="0">
                <a:solidFill>
                  <a:srgbClr val="0F172A"/>
                </a:solidFill>
                <a:latin typeface="Noto Sans CJK JP"/>
              </a:rPr>
              <a:t>接触を伴う高難度 Physical AI タスク全般</a:t>
            </a:r>
          </a:p>
          <a:p>
            <a:pPr>
              <a:spcAft>
                <a:spcPts val="600"/>
              </a:spcAft>
            </a:pPr>
            <a:r>
              <a:rPr sz="950" b="1" i="0">
                <a:solidFill>
                  <a:srgbClr val="0F172A"/>
                </a:solidFill>
                <a:latin typeface="Noto Sans CJK JP"/>
              </a:rPr>
              <a:t>• ネジ締め・ボルト締結: </a:t>
            </a:r>
            <a:r>
              <a:rPr sz="950" b="0" i="0">
                <a:solidFill>
                  <a:srgbClr val="334155"/>
                </a:solidFill>
                <a:latin typeface="Noto Sans CJK JP"/>
              </a:rPr>
              <a:t>接触幾何と反力逃がしを統合した本アーキテクチャは、高精度なネジ締め作業へ直接適用可能。</a:t>
            </a:r>
          </a:p>
          <a:p>
            <a:pPr>
              <a:spcAft>
                <a:spcPts val="600"/>
              </a:spcAft>
            </a:pPr>
            <a:r>
              <a:rPr sz="950" b="1" i="0">
                <a:solidFill>
                  <a:srgbClr val="0F172A"/>
                </a:solidFill>
                <a:latin typeface="Noto Sans CJK JP"/>
              </a:rPr>
              <a:t>• コネクタ・ハーネス嵌合: </a:t>
            </a:r>
            <a:r>
              <a:rPr sz="950" b="0" i="0">
                <a:solidFill>
                  <a:srgbClr val="334155"/>
                </a:solidFill>
                <a:latin typeface="Noto Sans CJK JP"/>
              </a:rPr>
              <a:t>双眼視覚サーボによるサブミリ位置合わせ技術は、複雑な形状の異種コネクタ挿抜へ展開可能。</a:t>
            </a:r>
          </a:p>
          <a:p>
            <a:pPr>
              <a:spcAft>
                <a:spcPts val="600"/>
              </a:spcAft>
            </a:pPr>
            <a:r>
              <a:rPr sz="950" b="1" i="0">
                <a:solidFill>
                  <a:srgbClr val="0F172A"/>
                </a:solidFill>
                <a:latin typeface="Noto Sans CJK JP"/>
              </a:rPr>
              <a:t>• 精密組み立て自動化: </a:t>
            </a:r>
            <a:r>
              <a:rPr sz="950" b="0" i="0">
                <a:solidFill>
                  <a:srgbClr val="334155"/>
                </a:solidFill>
                <a:latin typeface="Noto Sans CJK JP"/>
              </a:rPr>
              <a:t>人手教示に依存しない自己改善型ロボットAIとして、製造現場の自動化を飛躍的に加速。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